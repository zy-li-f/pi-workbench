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835a653efb45bd" /><Relationship Type="http://schemas.openxmlformats.org/officeDocument/2006/relationships/extended-properties" Target="/docProps/app.xml" Id="R26aaa80912c04077" /><Relationship Type="http://schemas.openxmlformats.org/officeDocument/2006/relationships/officeDocument" Target="/ppt/presentation.xml" Id="R66627eaef71e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debff70f4426d"/>
  </p:sldMasterIdLst>
  <p:notesMasterIdLst>
    <p:notesMasterId xmlns:r="http://schemas.openxmlformats.org/officeDocument/2006/relationships" r:id="R265f41fe1fa846e1"/>
  </p:notesMasterIdLst>
  <p:sldIdLst>
    <p:sldId xmlns:r="http://schemas.openxmlformats.org/officeDocument/2006/relationships" id="256" r:id="Re4fa2f5a939d479f"/>
    <p:sldId xmlns:r="http://schemas.openxmlformats.org/officeDocument/2006/relationships" id="257" r:id="Rd9568056f3dd4d10"/>
    <p:sldId xmlns:r="http://schemas.openxmlformats.org/officeDocument/2006/relationships" id="258" r:id="R4e55550900064918"/>
    <p:sldId xmlns:r="http://schemas.openxmlformats.org/officeDocument/2006/relationships" id="259" r:id="R9f2dc7899e804379"/>
    <p:sldId xmlns:r="http://schemas.openxmlformats.org/officeDocument/2006/relationships" id="260" r:id="R9fec7f5926a34a9e"/>
    <p:sldId xmlns:r="http://schemas.openxmlformats.org/officeDocument/2006/relationships" id="261" r:id="R8fb47b79551b476f"/>
    <p:sldId xmlns:r="http://schemas.openxmlformats.org/officeDocument/2006/relationships" id="262" r:id="R243eb02a4dfb4c97"/>
    <p:sldId xmlns:r="http://schemas.openxmlformats.org/officeDocument/2006/relationships" id="263" r:id="R9af8ca8106ec44ed"/>
    <p:sldId xmlns:r="http://schemas.openxmlformats.org/officeDocument/2006/relationships" id="264" r:id="R43ee560239d44f49"/>
    <p:sldId xmlns:r="http://schemas.openxmlformats.org/officeDocument/2006/relationships" id="265" r:id="R160c6c0a99f2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a7e8c3b794075" /><Relationship Type="http://schemas.openxmlformats.org/officeDocument/2006/relationships/slideMaster" Target="/ppt/slideMasters/slideMaster1.xml" Id="R339debff70f4426d" /><Relationship Type="http://schemas.openxmlformats.org/officeDocument/2006/relationships/notesMaster" Target="/ppt/notesMasters/notesMaster1.xml" Id="R265f41fe1fa846e1" /><Relationship Type="http://schemas.openxmlformats.org/officeDocument/2006/relationships/presProps" Target="/ppt/presProps.xml" Id="R621b62370de045f5" /><Relationship Type="http://schemas.openxmlformats.org/officeDocument/2006/relationships/tableStyles" Target="/ppt/tableStyles.xml" Id="R01efb6e955804cab" /><Relationship Type="http://schemas.openxmlformats.org/officeDocument/2006/relationships/slide" Target="/ppt/slides/slide1.xml" Id="Re4fa2f5a939d479f" /><Relationship Type="http://schemas.openxmlformats.org/officeDocument/2006/relationships/slide" Target="/ppt/slides/slide2.xml" Id="Rd9568056f3dd4d10" /><Relationship Type="http://schemas.openxmlformats.org/officeDocument/2006/relationships/slide" Target="/ppt/slides/slide3.xml" Id="R4e55550900064918" /><Relationship Type="http://schemas.openxmlformats.org/officeDocument/2006/relationships/slide" Target="/ppt/slides/slide4.xml" Id="R9f2dc7899e804379" /><Relationship Type="http://schemas.openxmlformats.org/officeDocument/2006/relationships/slide" Target="/ppt/slides/slide5.xml" Id="R9fec7f5926a34a9e" /><Relationship Type="http://schemas.openxmlformats.org/officeDocument/2006/relationships/slide" Target="/ppt/slides/slide6.xml" Id="R8fb47b79551b476f" /><Relationship Type="http://schemas.openxmlformats.org/officeDocument/2006/relationships/slide" Target="/ppt/slides/slide7.xml" Id="R243eb02a4dfb4c97" /><Relationship Type="http://schemas.openxmlformats.org/officeDocument/2006/relationships/slide" Target="/ppt/slides/slide8.xml" Id="R9af8ca8106ec44ed" /><Relationship Type="http://schemas.openxmlformats.org/officeDocument/2006/relationships/slide" Target="/ppt/slides/slide9.xml" Id="R43ee560239d44f49" /><Relationship Type="http://schemas.openxmlformats.org/officeDocument/2006/relationships/slide" Target="/ppt/slides/slide10.xml" Id="R160c6c0a99f2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f32cf978f54d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1d649dd154b65" /><Relationship Type="http://schemas.openxmlformats.org/officeDocument/2006/relationships/notesMaster" Target="/ppt/notesMasters/notesMaster1.xml" Id="R035f5b14a0d941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c22a1386bf41d9" /><Relationship Type="http://schemas.openxmlformats.org/officeDocument/2006/relationships/notesMaster" Target="/ppt/notesMasters/notesMaster1.xml" Id="R8704a93d8e92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9b90fe4e140fb" /><Relationship Type="http://schemas.openxmlformats.org/officeDocument/2006/relationships/notesMaster" Target="/ppt/notesMasters/notesMaster1.xml" Id="Ra8de7973a71245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7656dc02e4929" /><Relationship Type="http://schemas.openxmlformats.org/officeDocument/2006/relationships/notesMaster" Target="/ppt/notesMasters/notesMaster1.xml" Id="R9c58106619d848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1cecb2f5344b6" /><Relationship Type="http://schemas.openxmlformats.org/officeDocument/2006/relationships/notesMaster" Target="/ppt/notesMasters/notesMaster1.xml" Id="R53527855445e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02826c55e4150" /><Relationship Type="http://schemas.openxmlformats.org/officeDocument/2006/relationships/notesMaster" Target="/ppt/notesMasters/notesMaster1.xml" Id="R55eab182944f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9d6b96910b434f" /><Relationship Type="http://schemas.openxmlformats.org/officeDocument/2006/relationships/notesMaster" Target="/ppt/notesMasters/notesMaster1.xml" Id="R7961ca4b8f45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8ac7f26624ab8" /><Relationship Type="http://schemas.openxmlformats.org/officeDocument/2006/relationships/notesMaster" Target="/ppt/notesMasters/notesMaster1.xml" Id="Rf8fb3a42746d49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38805b34c34517" /><Relationship Type="http://schemas.openxmlformats.org/officeDocument/2006/relationships/notesMaster" Target="/ppt/notesMasters/notesMaster1.xml" Id="R7949201ae9f443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6a30b538284af0" /><Relationship Type="http://schemas.openxmlformats.org/officeDocument/2006/relationships/notesMaster" Target="/ppt/notesMasters/notesMaster1.xml" Id="R916eaa970b7543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14a8b8627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206c07e7b43a2" /><Relationship Type="http://schemas.openxmlformats.org/officeDocument/2006/relationships/slideLayout" Target="/ppt/slideLayouts/slideLayout1.xml" Id="R9e7231db9931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231db9931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2fe7c41bd4e93" /><Relationship Type="http://schemas.openxmlformats.org/officeDocument/2006/relationships/notesSlide" Target="/ppt/notesSlides/notesSlide1.xml" Id="Rb0eb567a54a3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600f61d449c6" /><Relationship Type="http://schemas.openxmlformats.org/officeDocument/2006/relationships/image" Target="/ppt/media/image.png" Id="R89ef9af60dca4073" /><Relationship Type="http://schemas.openxmlformats.org/officeDocument/2006/relationships/notesSlide" Target="/ppt/notesSlides/notesSlide2.xml" Id="R3c7f51e477f446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1a15a042b470e" /><Relationship Type="http://schemas.openxmlformats.org/officeDocument/2006/relationships/notesSlide" Target="/ppt/notesSlides/notesSlide3.xml" Id="Rf813d0042f23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4d7340b4b4666" /><Relationship Type="http://schemas.openxmlformats.org/officeDocument/2006/relationships/image" Target="/ppt/media/image2.png" Id="R77b05d77db624309" /><Relationship Type="http://schemas.openxmlformats.org/officeDocument/2006/relationships/notesSlide" Target="/ppt/notesSlides/notesSlide4.xml" Id="R646c731f1793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6c59200e844bc" /><Relationship Type="http://schemas.openxmlformats.org/officeDocument/2006/relationships/image" Target="/ppt/media/image3.png" Id="R677602e4c05c4b7a" /><Relationship Type="http://schemas.openxmlformats.org/officeDocument/2006/relationships/notesSlide" Target="/ppt/notesSlides/notesSlide5.xml" Id="Ra15f2b530ec046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ec19be6e74f36" /><Relationship Type="http://schemas.openxmlformats.org/officeDocument/2006/relationships/notesSlide" Target="/ppt/notesSlides/notesSlide6.xml" Id="Re8206fa78afb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dbba7b25845c4" /><Relationship Type="http://schemas.openxmlformats.org/officeDocument/2006/relationships/image" Target="/ppt/media/image4.png" Id="Re69e8a7be14e48e1" /><Relationship Type="http://schemas.openxmlformats.org/officeDocument/2006/relationships/notesSlide" Target="/ppt/notesSlides/notesSlide7.xml" Id="R925025a5e49048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7974eb97a4729" /><Relationship Type="http://schemas.openxmlformats.org/officeDocument/2006/relationships/notesSlide" Target="/ppt/notesSlides/notesSlide8.xml" Id="R3ef23bb38d4c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175cdf8374614" /><Relationship Type="http://schemas.openxmlformats.org/officeDocument/2006/relationships/notesSlide" Target="/ppt/notesSlides/notesSlide9.xml" Id="R47f33f9940c040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c19633fc4ee8" /><Relationship Type="http://schemas.openxmlformats.org/officeDocument/2006/relationships/notesSlide" Target="/ppt/notesSlides/notesSlide10.xml" Id="Rafd54f2fff27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34B7E4-B618-47CA-955D-E1C4C91D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PI-GUI 产品能力与交互说明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9C21280-5138-4BF9-8A5B-A275CD8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46E7A"/>
                </a:solidFill>
              </a:defRPr>
            </a:pPr>
            <a:r>
              <a:rPr sz="1800">
                <a:solidFill>
                  <a:srgbClr val="546E7A"/>
                </a:solidFill>
              </a:rPr>
              <a:t>Stella · Pi Workbench v0.3.0</a:t>
            </a:r>
          </a:p>
          <a:p xmlns:a="http://schemas.openxmlformats.org/drawingml/2006/main">
            <a:pPr>
              <a:defRPr sz="1800">
                <a:solidFill>
                  <a:srgbClr val="546E7A"/>
                </a:solidFill>
              </a:defRPr>
            </a:pPr>
            <a:r>
              <a:rPr sz="1800">
                <a:solidFill>
                  <a:srgbClr val="546E7A"/>
                </a:solidFill>
              </a:rPr>
              <a:t>本地桌面 Agent 工作台 — 完整 Pi 能力 + 可选任务控制台</a:t>
            </a:r>
          </a:p>
        </p:txBody>
      </p:sp>
      <p:sp>
        <p:nvSpPr>
          <p:cNvPr id="3" name="cover-footer-line">
            <a:extLst xmlns:a="http://schemas.openxmlformats.org/drawingml/2006/main">
              <a:ext uri="{FF2B5EF4-FFF2-40B4-BE49-F238E27FC236}">
                <a16:creationId xmlns:a16="http://schemas.microsoft.com/office/drawing/2014/main" id="{C980BCC2-1327-4942-9D3C-9E58AB2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D995A8D-5813-4248-87E0-9C353C0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4AE"/>
                </a:solidFill>
              </a:defRPr>
            </a:pPr>
            <a:r>
              <a:rPr sz="1050">
                <a:solidFill>
                  <a:srgbClr val="90A4AE"/>
                </a:solidFill>
              </a:rPr>
              <a:t>面向潜在用户与项目维护者 · 基于公开仓库资料</a:t>
            </a:r>
          </a:p>
        </p:txBody>
      </p:sp>
    </p:spTree>
    <p:extLst>
      <p:ext uri="{BB962C8B-B14F-4D97-AF65-F5344CB8AC3E}">
        <p14:creationId xmlns:p14="http://schemas.microsoft.com/office/powerpoint/2010/main" val="533812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995F3527-3AF5-4DB2-B268-50E25E52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Pi 原生能力全景</a:t>
            </a:r>
          </a:p>
        </p:txBody>
      </p:sp>
      <p:sp>
        <p:nvSpPr>
          <p:cNvPr id="2" name="slide2-left">
            <a:extLst xmlns:a="http://schemas.openxmlformats.org/drawingml/2006/main">
              <a:ext uri="{FF2B5EF4-FFF2-40B4-BE49-F238E27FC236}">
                <a16:creationId xmlns:a16="http://schemas.microsoft.com/office/drawing/2014/main" id="{2FDAE8DD-208F-4FD8-A591-2E3A389A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核心交互能力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会话管理：新建、切换、搜索、重命名、克隆、分叉、树状分支、HTML 导出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模型路由：全局 Provider → Model → Context 信号链，实时可用模型选择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工具过程：流式展示 tool call、参数、实时结果、错误与活动时间线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本地命令：在当前工作目录执行 Pi bash 命令，支持取消与历史导航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编辑器：Enter 发送、Shift+Enter 换行、图片附件、斜杠命令、建议卡片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扩展 UI：select、confirm、input、editor、请求超时、通知、状态组件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项目权限：检测项目级 .pi 资源，信任加载与受限打开明确选择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f9af60dca4073"/>
          <a:stretch xmlns:a="http://schemas.openxmlformats.org/drawingml/2006/main"/>
        </p:blipFill>
        <p:spPr>
          <a:xfrm xmlns:a="http://schemas.openxmlformats.org/drawingml/2006/main">
            <a:off x="6286500" y="1769851"/>
            <a:ext cx="5219700" cy="33182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6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9D0176B4-03AE-4DCB-9427-53C4E020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当前会话到工具执行的主路径</a:t>
            </a:r>
          </a:p>
        </p:txBody>
      </p:sp>
      <p:sp>
        <p:nvSpPr>
          <p:cNvPr id="2" name="flow-72">
            <a:extLst xmlns:a="http://schemas.openxmlformats.org/drawingml/2006/main">
              <a:ext uri="{FF2B5EF4-FFF2-40B4-BE49-F238E27FC236}">
                <a16:creationId xmlns:a16="http://schemas.microsoft.com/office/drawing/2014/main" id="{410D66F6-9095-4167-9F24-A146B86F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用户输入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Prompt / 图片 / 斜杠命令</a:t>
            </a:r>
          </a:p>
        </p:txBody>
      </p:sp>
      <p:sp>
        <p:nvSpPr>
          <p:cNvPr id="3" name="flow-320">
            <a:extLst xmlns:a="http://schemas.openxmlformats.org/drawingml/2006/main">
              <a:ext uri="{FF2B5EF4-FFF2-40B4-BE49-F238E27FC236}">
                <a16:creationId xmlns:a16="http://schemas.microsoft.com/office/drawing/2014/main" id="{CB15FAE2-F4EF-4E4E-9126-4C23942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Pi RPC 进程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JSONL 协议通信</a:t>
            </a:r>
          </a:p>
        </p:txBody>
      </p:sp>
      <p:sp>
        <p:nvSpPr>
          <p:cNvPr id="4" name="flow-568">
            <a:extLst xmlns:a="http://schemas.openxmlformats.org/drawingml/2006/main">
              <a:ext uri="{FF2B5EF4-FFF2-40B4-BE49-F238E27FC236}">
                <a16:creationId xmlns:a16="http://schemas.microsoft.com/office/drawing/2014/main" id="{5CF9A7D2-752E-4EB0-AFF7-D08DFE5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145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模型推理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Provider → Model 路由</a:t>
            </a:r>
          </a:p>
        </p:txBody>
      </p:sp>
      <p:sp>
        <p:nvSpPr>
          <p:cNvPr id="5" name="flow-816">
            <a:extLst xmlns:a="http://schemas.openxmlformats.org/drawingml/2006/main">
              <a:ext uri="{FF2B5EF4-FFF2-40B4-BE49-F238E27FC236}">
                <a16:creationId xmlns:a16="http://schemas.microsoft.com/office/drawing/2014/main" id="{A211E0FB-81EA-4D30-815A-050528E3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工具调用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bash / read / edit / write</a:t>
            </a:r>
          </a:p>
        </p:txBody>
      </p:sp>
      <p:sp>
        <p:nvSpPr>
          <p:cNvPr id="6" name="flow-1064">
            <a:extLst xmlns:a="http://schemas.openxmlformats.org/drawingml/2006/main">
              <a:ext uri="{FF2B5EF4-FFF2-40B4-BE49-F238E27FC236}">
                <a16:creationId xmlns:a16="http://schemas.microsoft.com/office/drawing/2014/main" id="{2FC040DA-082D-45EC-9B2D-AB159C9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145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结果返回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流式消息 + 工具事件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A591894A-AF39-471C-A4CC-6A31A9C0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BC10E40C-E30D-4CD6-8718-D281350C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E4008C86-7F0A-43FB-833F-FD1ABB02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arrow-3">
            <a:extLst xmlns:a="http://schemas.openxmlformats.org/drawingml/2006/main">
              <a:ext uri="{FF2B5EF4-FFF2-40B4-BE49-F238E27FC236}">
                <a16:creationId xmlns:a16="http://schemas.microsoft.com/office/drawing/2014/main" id="{2628BB05-FA55-4B12-B52C-C56EBCAA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slide3-keypoints">
            <a:extLst xmlns:a="http://schemas.openxmlformats.org/drawingml/2006/main">
              <a:ext uri="{FF2B5EF4-FFF2-40B4-BE49-F238E27FC236}">
                <a16:creationId xmlns:a16="http://schemas.microsoft.com/office/drawing/2014/main" id="{4FB5279B-EE14-4A60-A536-C99389E6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关键设计原则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真实 Pi RPC：直接启动安装包内置 Pi JSONL RPC 进程，不模拟回复、不绕开 Pi 会话系统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流式反馈：提示词、图片、流式消息、steer / follow-up 队列、停止生成、可中止的自动重试与上下文压缩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工具透明：流式展示 tool call、参数、实时结果、错误和活动时间线，用户全程可见执行过程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会话隔离：交互式 Pi Runtime 与后台 AgentTask Runtime 拥有独立会话和事件流，互不干扰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• 项目信任：工作目录包含项目级设置时，先显示权限对话框，信任加载或受限打开明确选择</a:t>
            </a:r>
          </a:p>
        </p:txBody>
      </p:sp>
    </p:spTree>
    <p:extLst>
      <p:ext uri="{BB962C8B-B14F-4D97-AF65-F5344CB8AC3E}">
        <p14:creationId xmlns:p14="http://schemas.microsoft.com/office/powerpoint/2010/main" val="1195030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4-title">
            <a:extLst xmlns:a="http://schemas.openxmlformats.org/drawingml/2006/main">
              <a:ext uri="{FF2B5EF4-FFF2-40B4-BE49-F238E27FC236}">
                <a16:creationId xmlns:a16="http://schemas.microsoft.com/office/drawing/2014/main" id="{2BE3FA31-D7CC-46F5-9293-9C1E5E0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全局模型配置</a:t>
            </a:r>
          </a:p>
        </p:txBody>
      </p:sp>
      <p:sp>
        <p:nvSpPr>
          <p:cNvPr id="2" name="slide4-left">
            <a:extLst xmlns:a="http://schemas.openxmlformats.org/drawingml/2006/main">
              <a:ext uri="{FF2B5EF4-FFF2-40B4-BE49-F238E27FC236}">
                <a16:creationId xmlns:a16="http://schemas.microsoft.com/office/drawing/2014/main" id="{9C96A7B4-54B2-4B0A-A87D-042A6C4F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独立 Pi Model Router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全局模型信号链：Provider → Model → Context → 会话 / 团队 / 看板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只允许选择 Pi 当前真实返回的可用模型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左侧 MODEL RELAY 在全部页面显示同一个当前模型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Provider 配置状态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区分 auth.json、环境变量、models.json 内联配置与 OAuth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明确分离"本地凭据已配置"与"远端请求已验证"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避免把找到 Key 误报成已经连通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API Key 安全管理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初始化和刷新快照永不携带密钥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仅用户点击"查看当前 API Key"后，主进程通过窄 IPC 临时返回一次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隐藏、切换 Provider、保存或 30 秒后从页面清除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OAuth 访问令牌不回显；!command 动态凭据只允许测试，不会被查看操作执行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真实连通测试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为 Provider 选择具体模型，发送独立极短模型请求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显示成功/失败、实际模型、耗时和测试时间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测试不进入聊天历史、不改变全局模型、不重启当前 Pi RPC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05d77db624309"/>
          <a:stretch xmlns:a="http://schemas.openxmlformats.org/drawingml/2006/main"/>
        </p:blipFill>
        <p:spPr>
          <a:xfrm xmlns:a="http://schemas.openxmlformats.org/drawingml/2006/main">
            <a:off x="6286500" y="1771393"/>
            <a:ext cx="5219700" cy="3315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04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5-title">
            <a:extLst xmlns:a="http://schemas.openxmlformats.org/drawingml/2006/main">
              <a:ext uri="{FF2B5EF4-FFF2-40B4-BE49-F238E27FC236}">
                <a16:creationId xmlns:a16="http://schemas.microsoft.com/office/drawing/2014/main" id="{951A46DB-2CD7-4534-8D3D-C3CA22FB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可选团队协作与看板</a:t>
            </a:r>
          </a:p>
        </p:txBody>
      </p:sp>
      <p:sp>
        <p:nvSpPr>
          <p:cNvPr id="2" name="slide5-left">
            <a:extLst xmlns:a="http://schemas.openxmlformats.org/drawingml/2006/main">
              <a:ext uri="{FF2B5EF4-FFF2-40B4-BE49-F238E27FC236}">
                <a16:creationId xmlns:a16="http://schemas.microsoft.com/office/drawing/2014/main" id="{96D492DD-BBBA-4BC5-8015-860B948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任务启动台（Task Launchpad）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团队协作首页始终存在的项目级入口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填写可验证的验收标准并发送 @LEAD + 目标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原子创建 Task、首条消息和 Coordinator，再自动进入新 Task Room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三栏 Team Chat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左栏：永久任务启动台与 Task Channel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中栏：启动输入器或完整 Task Room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右栏：可收起 Team Pulse，显示从执行记录派生的 Agent Presence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任务看板（Kanban）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六阶段任务星图：待规划、已规划、执行中、待审核、受阻、已完成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跨项目筛选、搜索、流程过滤、原生拖放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创建与编辑任务、分发与重新分发、Task Room、只读 DAG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实时星轨进度、Agent 与工具事件、Markdown 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固定 Agent 团队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六个通用角色：LEAD、SCOUT、PLAN、BUILD、VERIFY、REVIEW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三条固定流程：功能交付、缺陷修复、只读审阅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每次分发保存流程和 Agent 的版本快照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602e4c05c4b7a"/>
          <a:stretch xmlns:a="http://schemas.openxmlformats.org/drawingml/2006/main"/>
        </p:blipFill>
        <p:spPr>
          <a:xfrm xmlns:a="http://schemas.openxmlformats.org/drawingml/2006/main">
            <a:off x="6286500" y="1771393"/>
            <a:ext cx="5219700" cy="3315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56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6-title">
            <a:extLst xmlns:a="http://schemas.openxmlformats.org/drawingml/2006/main">
              <a:ext uri="{FF2B5EF4-FFF2-40B4-BE49-F238E27FC236}">
                <a16:creationId xmlns:a16="http://schemas.microsoft.com/office/drawing/2014/main" id="{14F9AC9C-8D0E-4C06-BC9D-65011CA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DAG / 任务执行与状态可见性</a:t>
            </a:r>
          </a:p>
        </p:txBody>
      </p:sp>
      <p:sp>
        <p:nvSpPr>
          <p:cNvPr id="2" name="slide6-content">
            <a:extLst xmlns:a="http://schemas.openxmlformats.org/drawingml/2006/main">
              <a:ext uri="{FF2B5EF4-FFF2-40B4-BE49-F238E27FC236}">
                <a16:creationId xmlns:a16="http://schemas.microsoft.com/office/drawing/2014/main" id="{88896475-6DF5-45F2-A581-249B0E6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确定性 Task 状态机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Task 阶段只由 Stella 的持久化事件推进：分发为 queued，真实执行为 running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人工关卡或 Agent 报告为 review，失败/中断/驳回为 blocked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请求修订回到 planned，用户接受报告后才进入 completed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模型文本本身没有移动卡片的权限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唯一执行尝试与不可变任务规格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Task 每次重新分发都会递增 executionAttempt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只允许 awaitingReviewExecution 指向的一次 Workflow Run 或根 AgentTask 改变验收状态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更早的 pending 报告会明确成为 superseded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用户每次实际修改目标、说明、优先级、验收标准或执行目标时递增 specRevision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每个根执行保存 TaskSpecSnapshot，旧 Runtime 即使迟到也不能用旧规格覆盖当前任务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只读可视化 DAG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历史 Workflow snapshot 与 StepRun 的只读投影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选点可查看 Agent、目标、错误、Artifact 和 session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不会反向修改执行状态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六种节点状态：pending、running、waiting、reported/succeeded、failed、interrupted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明确验收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Agent 返回结果只会成为 reported + pending acceptance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用户可以接受、请求修订或拒绝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决定、说明、时间与对应 Task 状态转换会进入同一条事实记录</a:t>
            </a:r>
          </a:p>
        </p:txBody>
      </p:sp>
    </p:spTree>
    <p:extLst>
      <p:ext uri="{BB962C8B-B14F-4D97-AF65-F5344CB8AC3E}">
        <p14:creationId xmlns:p14="http://schemas.microsoft.com/office/powerpoint/2010/main" val="1110866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7-title">
            <a:extLst xmlns:a="http://schemas.openxmlformats.org/drawingml/2006/main">
              <a:ext uri="{FF2B5EF4-FFF2-40B4-BE49-F238E27FC236}">
                <a16:creationId xmlns:a16="http://schemas.microsoft.com/office/drawing/2014/main" id="{BD45F508-8DF7-4A0E-9600-4D860E2C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多皮肤及 Windows/macOS 分发</a:t>
            </a:r>
          </a:p>
        </p:txBody>
      </p:sp>
      <p:sp>
        <p:nvSpPr>
          <p:cNvPr id="2" name="slide7-left">
            <a:extLst xmlns:a="http://schemas.openxmlformats.org/drawingml/2006/main">
              <a:ext uri="{FF2B5EF4-FFF2-40B4-BE49-F238E27FC236}">
                <a16:creationId xmlns:a16="http://schemas.microsoft.com/office/drawing/2014/main" id="{2DBA9BFC-A181-47CA-8FDD-6CF1B330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八套完整皮肤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Stella · 夜航星图：鸢尾星轨、柔光玻璃、暖色手写签名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晨曦 · 纸上初光：雾面纸艺、山岚层叠、杏色晨光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定阳 · 日晷制图：矿物版画、太阳刻度、几何秩序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旭日 · 海上金轮：朱砂日轮、矿物山海、克制金箔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月华 · 银蓝月湖：月路、流云、冰晶花影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黑曜夜契 · 雨夜契约：维多利亚银器、雨夜庄园、深红玫瑰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绮旅黄金 · 彩町漫游：粉紫街町、意式金饰、高对比漫画色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棋境 · 月下手谈：黑白棋子、银杏墨雾、古老棋枰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每套视觉同步改变背景主视觉、色彩令牌、面板材质、边框与圆角、品牌符号、空状态图形、建议卡片和输入器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Windows / macOS 安装包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内置 Pi 运行时、复用用户配置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@earendil-works/pi-coding-agent 及生产依赖随 Stella 进入安装包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接收者全局 pi 命令安装在哪里、有没有加入 PATH，都不影响 GUI 启动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看板状态存放在 Electron 用户数据目录下 board/board.json</a:t>
            </a:r>
          </a:p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  <a:r>
              <a:rPr sz="1050">
                <a:solidFill>
                  <a:srgbClr val="000000"/>
                </a:solidFill>
              </a:rPr>
              <a:t>• 与被打开的代码仓库分离，不会向他人项目写入 Stella 配置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e8a7be14e48e1"/>
          <a:stretch xmlns:a="http://schemas.openxmlformats.org/drawingml/2006/main"/>
        </p:blipFill>
        <p:spPr>
          <a:xfrm xmlns:a="http://schemas.openxmlformats.org/drawingml/2006/main">
            <a:off x="6286500" y="1771393"/>
            <a:ext cx="5219700" cy="3315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58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8-title">
            <a:extLst xmlns:a="http://schemas.openxmlformats.org/drawingml/2006/main">
              <a:ext uri="{FF2B5EF4-FFF2-40B4-BE49-F238E27FC236}">
                <a16:creationId xmlns:a16="http://schemas.microsoft.com/office/drawing/2014/main" id="{17B5726F-8CEA-4AB7-AD5C-F7712F19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安全边界与下一阶段</a:t>
            </a:r>
          </a:p>
        </p:txBody>
      </p:sp>
      <p:sp>
        <p:nvSpPr>
          <p:cNvPr id="2" name="slide8-left">
            <a:extLst xmlns:a="http://schemas.openxmlformats.org/drawingml/2006/main">
              <a:ext uri="{FF2B5EF4-FFF2-40B4-BE49-F238E27FC236}">
                <a16:creationId xmlns:a16="http://schemas.microsoft.com/office/drawing/2014/main" id="{6D6C1EC8-F53C-4B4C-8968-182B926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安全边界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共享 Workspace Admission：Interactive Pi、Workflow 和 AgentTask 共用按 canonical real path 识别的写 Lease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后台写任务 FIFO 等待；Interactive Pi 遇到后台写者会显示具体占用者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取消任务会取消尚未获得 Lease 的等待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实时项目权限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后台 Runner 每次启动真实 Pi 前重新读取项目当前 trust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永不复用 Task 中陈旧的授权快照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切换为受限模式会同步 Task/Autopilot 并中止该项目仍在运行或排队的执行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主进程也拒绝从隐藏的旧项目 Task Room 修改任务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独立 Capability Health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Pi、Task、Schedule、Webhook 分别处于 loading / ready / degraded / error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Board 损坏不会挡住 Pi，Pi 启动失败也不会挡住任务历史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Webhook 端口冲突只停 Webhook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明确应用语义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保存后重载真实 Pi RPC，并通过当前 sessionFile 恢复同一会话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"已保存""本地已配置""连通已验证"是三个独立状态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配置、重载或测试失败都会明确显示</a:t>
            </a:r>
          </a:p>
        </p:txBody>
      </p:sp>
      <p:sp>
        <p:nvSpPr>
          <p:cNvPr id="3" name="slide8-right">
            <a:extLst xmlns:a="http://schemas.openxmlformats.org/drawingml/2006/main">
              <a:ext uri="{FF2B5EF4-FFF2-40B4-BE49-F238E27FC236}">
                <a16:creationId xmlns:a16="http://schemas.microsoft.com/office/drawing/2014/main" id="{951B85DC-E8B0-45A9-BB0F-78FFDD8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197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下一阶段方向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通用多 Agent Room：用户先创建中性 Room、添加 Agent 成员、在里面交流，再通过 @lead 把消息提升为任务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稳定 mention 身份：RoomMessage 保存结构化 mention 引用，Agent 改名后旧消息仍能指向原身份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真实 DAG 调度：引入显式 dependsOn、无环校验、ready-node 调度和分支汇合状态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受限并行执行：只读 AgentTask 可以进入小型 bounded pool，写任务继续由 WorkspaceAdmission 串行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选择性重试：只对明确分类的暂时性错误创建新 attempt，保存 retryOf 和 attempt number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不在范围内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PostgreSQL、Redis、远程后端、常驻 Daemon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执行而 Stella 关闭、OS 启动代理、后台服务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公网 Webhooks、反向代理、TLS 终止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多用户账户、RBAC、云同步、远程协作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无限递归委派、agent 创建的 Squad、循环父级</a:t>
            </a:r>
          </a:p>
        </p:txBody>
      </p:sp>
    </p:spTree>
    <p:extLst>
      <p:ext uri="{BB962C8B-B14F-4D97-AF65-F5344CB8AC3E}">
        <p14:creationId xmlns:p14="http://schemas.microsoft.com/office/powerpoint/2010/main" val="1875211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9-title">
            <a:extLst xmlns:a="http://schemas.openxmlformats.org/drawingml/2006/main">
              <a:ext uri="{FF2B5EF4-FFF2-40B4-BE49-F238E27FC236}">
                <a16:creationId xmlns:a16="http://schemas.microsoft.com/office/drawing/2014/main" id="{3B14A6F8-AC60-4B11-9A6D-5E3A718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验证与测试覆盖</a:t>
            </a:r>
          </a:p>
        </p:txBody>
      </p:sp>
      <p:sp>
        <p:nvSpPr>
          <p:cNvPr id="2" name="slide9-content">
            <a:extLst xmlns:a="http://schemas.openxmlformats.org/drawingml/2006/main">
              <a:ext uri="{FF2B5EF4-FFF2-40B4-BE49-F238E27FC236}">
                <a16:creationId xmlns:a16="http://schemas.microsoft.com/office/drawing/2014/main" id="{7D0AFF0D-35E1-4F2C-AEF3-D5FB4079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全量测试套件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47 个 Vitest 文件、209 项测试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覆盖默认隐藏团队页面及显式开启、v1/v2/v3/v4/v5→v6 迁移与备份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Task 规格/执行尝试隔离、实时 trust、Coordinator 类型化工具、Skill 预检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Coordinator/Squad 快照、RPC 超时停机、Capability 故障隔离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Workspace Lease FIFO/取消/跨引擎互斥、reported/acceptance 分离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Task Room 稳定投影、显式 session 桥接、后台历史过滤、DAG 投影与键盘交互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AgentTaskQueue、Autopilot、Webhook、扩展 UI、全局字号、Pi Bash 取消协议和输入器行为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Electron 端到端测试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使用真实 Pi RPC 冷启动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检查原生工作台默认入口、团队功能门控及跨重启持久化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从 Team 返回 Pi、任务启动台、Task Room、mention 影响预览、Pi 会话固化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任务创建、跨列拖放、编排目录、自动化工作室、八套皮肤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会话新建与重命名、聊天、命令面板、检查器、真实终端成功/失败/取消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图片附件、字体切换、键盘焦点和响应式侧栏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打包验证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test:packaged 会清空可执行文件搜索路径后直接启动 release/ 中的新打包应用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只有内置 Pi 与 Task capability 都真实进入 ready 才通过</a:t>
            </a:r>
          </a:p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  <a:r>
              <a:rPr sz="1125">
                <a:solidFill>
                  <a:srgbClr val="000000"/>
                </a:solidFill>
              </a:rPr>
              <a:t>• Windows x64 NSIS 安装器可用仓库根目录的 SHA256SUMS.txt 校验</a:t>
            </a:r>
          </a:p>
        </p:txBody>
      </p:sp>
    </p:spTree>
    <p:extLst>
      <p:ext uri="{BB962C8B-B14F-4D97-AF65-F5344CB8AC3E}">
        <p14:creationId xmlns:p14="http://schemas.microsoft.com/office/powerpoint/2010/main" val="1516650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10-title">
            <a:extLst xmlns:a="http://schemas.openxmlformats.org/drawingml/2006/main">
              <a:ext uri="{FF2B5EF4-FFF2-40B4-BE49-F238E27FC236}">
                <a16:creationId xmlns:a16="http://schemas.microsoft.com/office/drawing/2014/main" id="{9B447294-305C-4271-B8BD-BCB10387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总结与获取方式</a:t>
            </a:r>
          </a:p>
        </p:txBody>
      </p:sp>
      <p:sp>
        <p:nvSpPr>
          <p:cNvPr id="2" name="slide10-summary">
            <a:extLst xmlns:a="http://schemas.openxmlformats.org/drawingml/2006/main">
              <a:ext uri="{FF2B5EF4-FFF2-40B4-BE49-F238E27FC236}">
                <a16:creationId xmlns:a16="http://schemas.microsoft.com/office/drawing/2014/main" id="{3914C0F9-E188-41C6-BAB1-F233315B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PI-GUI（Stella · Pi Workbench）是一个为 earendil-works/pi 打造的 Electron 桌面工作台。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核心价值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完整 Pi 原生能力：会话、模型、工具、扩展、终端，不模拟、不绕开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可选任务控制台：看板、Team Chat、Task Room、DAG、Autopilot，显式开启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安全边界清晰：Workspace Admission、实时项目权限、Capability Health 独立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本地优先：不引入 PostgreSQL、Redis、远程后端和常驻 Daemon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八套原创皮肤：每套都可替换或恢复自己的本地背景图片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获取方式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源码：GitHub 仓库 earendil-works/pi-gui（MIT License）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安装包：Windows x64 / ARM64、macOS Intel / Apple Silicon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要求：Node.js &gt;= 22.19.0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• 首次调用模型前仍需配置自己的提供方凭据</a:t>
            </a:r>
          </a:p>
        </p:txBody>
      </p:sp>
      <p:sp>
        <p:nvSpPr>
          <p:cNvPr id="3" name="slide10-footer-line">
            <a:extLst xmlns:a="http://schemas.openxmlformats.org/drawingml/2006/main">
              <a:ext uri="{FF2B5EF4-FFF2-40B4-BE49-F238E27FC236}">
                <a16:creationId xmlns:a16="http://schemas.microsoft.com/office/drawing/2014/main" id="{47BD0FD5-17FF-44C6-AA9F-78AA3D84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10-footer">
            <a:extLst xmlns:a="http://schemas.openxmlformats.org/drawingml/2006/main">
              <a:ext uri="{FF2B5EF4-FFF2-40B4-BE49-F238E27FC236}">
                <a16:creationId xmlns:a16="http://schemas.microsoft.com/office/drawing/2014/main" id="{1193328A-D4ED-4B53-9C3C-64A674B7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4AE"/>
                </a:solidFill>
              </a:defRPr>
            </a:pPr>
            <a:r>
              <a:rPr sz="1050">
                <a:solidFill>
                  <a:srgbClr val="90A4AE"/>
                </a:solidFill>
              </a:rPr>
              <a:t>感谢观看 · 欢迎贡献与反馈</a:t>
            </a:r>
          </a:p>
        </p:txBody>
      </p:sp>
    </p:spTree>
    <p:extLst>
      <p:ext uri="{BB962C8B-B14F-4D97-AF65-F5344CB8AC3E}">
        <p14:creationId xmlns:p14="http://schemas.microsoft.com/office/powerpoint/2010/main" val="298644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2026-07-31T10:19:48.8010000Z</dcterms:created>
  <dcterms:modified xsi:type="dcterms:W3CDTF">2026-07-31T10:19:48.8010000Z</dcterms:modified>
</coreProperties>
</file>