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Wu et al., Chemical Science, 2018     本地实验：2026-09-18</a:t>
            </a:r>
            <a:endParaRPr lang="en-US" sz="1155" dirty="0"/>
          </a:p>
        </p:txBody>
      </p:sp>
      <p:sp>
        <p:nvSpPr>
          <p:cNvPr id="3" name="Text 1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/ 14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640064" y="1554480"/>
            <a:ext cx="1082012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5390" b="1" dirty="0">
                <a:solidFill>
                  <a:srgbClr val="F8FA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MoleculeNet</a:t>
            </a:r>
            <a:endParaRPr lang="en-US" sz="5390" dirty="0"/>
          </a:p>
        </p:txBody>
      </p:sp>
      <p:sp>
        <p:nvSpPr>
          <p:cNvPr id="5" name="Text 3"/>
          <p:cNvSpPr/>
          <p:nvPr/>
        </p:nvSpPr>
        <p:spPr>
          <a:xfrm>
            <a:off x="655304" y="2849880"/>
            <a:ext cx="10896328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300" b="1" dirty="0">
                <a:solidFill>
                  <a:srgbClr val="BFE6C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分子性质预测的局部复现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70543" y="4000500"/>
            <a:ext cx="10362941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F8FA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个完整数据集，48 次训练与评估</a:t>
            </a:r>
            <a:endParaRPr lang="en-US" sz="2090" dirty="0"/>
          </a:p>
        </p:txBody>
      </p:sp>
      <p:sp>
        <p:nvSpPr>
          <p:cNvPr id="7" name="Text 5"/>
          <p:cNvSpPr/>
          <p:nvPr/>
        </p:nvSpPr>
        <p:spPr>
          <a:xfrm>
            <a:off x="670543" y="4876800"/>
            <a:ext cx="10362941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70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现代环境下的基准重跑与方法审计</a:t>
            </a:r>
            <a:endParaRPr lang="en-US" sz="18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本次复现聚焦三个理化性质数据集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原图：Wu et al., Fig.2，CC BY-NC 3.0。保留原图，未裁切或改绘。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386840"/>
            <a:ext cx="10911567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3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论文覆盖 17 个数据集；本次运行其中 3 个完整集合</a:t>
            </a:r>
            <a:endParaRPr lang="en-US" sz="2035" dirty="0"/>
          </a:p>
        </p:txBody>
      </p:sp>
      <p:pic>
        <p:nvPicPr>
          <p:cNvPr id="6" name="Image 0" descr="MoleculeNet 原论文图2：量子力学、物理化学、生物物理、生理学四类任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291" y="2286000"/>
            <a:ext cx="9150635" cy="3154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5593080"/>
            <a:ext cx="10667733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9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数值复现不涉及靶点验证、分子设计或临床疗效</a:t>
            </a:r>
            <a:endParaRPr lang="en-US" sz="15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三个基准使用不同目标与单位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来源：原始数据文件及 verification/summary.json。各任务 RMSE 不跨单位合并。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/ 14</a:t>
            </a:r>
            <a:endParaRPr lang="en-US" sz="115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83080"/>
          <a:ext cx="10972526" cy="2499360"/>
        </p:xfrm>
        <a:graphic>
          <a:graphicData uri="http://schemas.openxmlformats.org/drawingml/2006/table">
            <a:tbl>
              <a:tblPr/>
              <a:tblGrid>
                <a:gridCol w="2743131"/>
                <a:gridCol w="2743131"/>
                <a:gridCol w="2743131"/>
                <a:gridCol w="2743131"/>
              </a:tblGrid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数据集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记录数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预测目标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报告单位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ESOL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1128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水溶解度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log10(mol/L)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FreeSolv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642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溶剂化自由能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kcal/mol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Lipophilicity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4200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脂溶性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logD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770120"/>
            <a:ext cx="109420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36 次主实验 + 12 次 ESOL 骨架划分诊断 = 48 次</a:t>
            </a:r>
            <a:endParaRPr lang="en-US" sz="2090" dirty="0"/>
          </a:p>
        </p:txBody>
      </p:sp>
      <p:sp>
        <p:nvSpPr>
          <p:cNvPr id="7" name="Text 4"/>
          <p:cNvSpPr/>
          <p:nvPr/>
        </p:nvSpPr>
        <p:spPr>
          <a:xfrm>
            <a:off x="609585" y="5516880"/>
            <a:ext cx="10743931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9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主实验：3 数据集 × 4 模型 × 3 种子</a:t>
            </a:r>
            <a:endParaRPr lang="en-US" sz="159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模型比较采用预先固定的实验协议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来源：experiment.json、benchmark.py。未执行原论文的超参数搜索。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/ 14</a:t>
            </a:r>
            <a:endParaRPr lang="en-US" sz="115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661160"/>
          <a:ext cx="10972526" cy="272796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特征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固定设置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均值基线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不使用分子特征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预测训练集目标均值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RF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500 棵树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KRR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RBF；alpha 0.001；gamma 1/1024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GraphConv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75 维原子特征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卷积 128/128；100 epochs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815840"/>
            <a:ext cx="1089632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3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 80/10/10；种子 123、456、789</a:t>
            </a:r>
            <a:endParaRPr lang="en-US" sz="2035" dirty="0"/>
          </a:p>
        </p:txBody>
      </p:sp>
      <p:sp>
        <p:nvSpPr>
          <p:cNvPr id="7" name="Text 4"/>
          <p:cNvSpPr/>
          <p:nvPr/>
        </p:nvSpPr>
        <p:spPr>
          <a:xfrm>
            <a:off x="609585" y="5478780"/>
            <a:ext cx="1089632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仅训练集拟合标准化；GraphConv 固定最后一个 epoch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随机划分与骨架划分回答不同问题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原图：Wu et al., Fig.3，CC BY-NC 3.0。右侧为本次实验协议。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/ 14</a:t>
            </a:r>
            <a:endParaRPr lang="en-US" sz="1155" dirty="0"/>
          </a:p>
        </p:txBody>
      </p:sp>
      <p:pic>
        <p:nvPicPr>
          <p:cNvPr id="5" name="Image 0" descr="MoleculeNet 原论文图3：随机、骨架、分层、时间四类划分方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6" y="1379220"/>
            <a:ext cx="392795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0129" y="1752600"/>
            <a:ext cx="533386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31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主实验：随机划分</a:t>
            </a:r>
            <a:endParaRPr lang="en-US" sz="2310" dirty="0"/>
          </a:p>
        </p:txBody>
      </p:sp>
      <p:sp>
        <p:nvSpPr>
          <p:cNvPr id="7" name="Text 4"/>
          <p:cNvSpPr/>
          <p:nvPr/>
        </p:nvSpPr>
        <p:spPr>
          <a:xfrm>
            <a:off x="6050129" y="2400300"/>
            <a:ext cx="5333867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三个数据集均采用 80/10/10</a:t>
            </a:r>
            <a:endParaRPr lang="en-US" sz="1925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92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不同种子产生不同随机分区</a:t>
            </a:r>
            <a:endParaRPr lang="en-US" sz="1925" dirty="0"/>
          </a:p>
        </p:txBody>
      </p:sp>
      <p:sp>
        <p:nvSpPr>
          <p:cNvPr id="8" name="Text 5"/>
          <p:cNvSpPr/>
          <p:nvPr/>
        </p:nvSpPr>
        <p:spPr>
          <a:xfrm>
            <a:off x="6050129" y="3794760"/>
            <a:ext cx="533386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31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诊断：ESOL 骨架划分</a:t>
            </a:r>
            <a:endParaRPr lang="en-US" sz="2310" dirty="0"/>
          </a:p>
        </p:txBody>
      </p:sp>
      <p:sp>
        <p:nvSpPr>
          <p:cNvPr id="9" name="Text 6"/>
          <p:cNvSpPr/>
          <p:nvPr/>
        </p:nvSpPr>
        <p:spPr>
          <a:xfrm>
            <a:off x="6050129" y="4480560"/>
            <a:ext cx="5333867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7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三个种子共享同一骨架分区</a:t>
            </a:r>
            <a:endParaRPr lang="en-US" sz="187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7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仅学习器随机性改变</a:t>
            </a:r>
            <a:endParaRPr lang="en-US" sz="187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7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不等同于三折交叉验证</a:t>
            </a:r>
            <a:endParaRPr lang="en-US" sz="1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ESOL 上 GraphConv 的平均误差最低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 RMSE（log10(mol/L)），越低越好。本次均值 ± 样本 SD，n=3。论文：Table 8。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356360"/>
            <a:ext cx="10896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ESOL   测试 RMSE / log10(mol/L)</a:t>
            </a:r>
            <a:endParaRPr lang="en-US" sz="1815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26920"/>
          <a:ext cx="10972526" cy="260604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本次实验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原论文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训练均值基线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2.137 ± 0.016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未列此基线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RF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1.190 ± 0.159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1.070 ± 0.190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KRR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1.485 ± 0.119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1.530 ± 0.060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GraphConv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1.046 ± 0.106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0.970 ± 0.010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4968240"/>
            <a:ext cx="108963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 GraphConv 为 1.046，论文为 0.970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不同划分与训练条件下，不作显著性判断</a:t>
            </a:r>
            <a:endParaRPr lang="en-US" sz="2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FreeSolv 未重现 GraphConv 的优势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 RMSE（kcal/mol），越低越好。本次均值 ± 样本 SD，n=3。论文：Table 8。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356360"/>
            <a:ext cx="10896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FreeSolv   测试 RMSE / kcal/mol</a:t>
            </a:r>
            <a:endParaRPr lang="en-US" sz="1815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26920"/>
          <a:ext cx="10972526" cy="260604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本次实验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原论文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训练均值基线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3.963 ± 0.473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未列此基线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RF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2.061 ± 0.664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2.030 ± 0.220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KRR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1.999 ± 0.410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2.110 ± 0.070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GraphConv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2.151 ± 0.232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1.400 ± 0.160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4968240"/>
            <a:ext cx="108963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A64D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 GraphConv 误差较论文均值高 53.7%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A64D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其均值也高于本次 RF 与 KRR</a:t>
            </a:r>
            <a:endParaRPr lang="en-US" sz="20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脂溶性任务中 GraphConv 的平均误差最低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 RMSE（logD），越低越好。本次均值 ± 样本 SD，n=3。论文：Table 8。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356360"/>
            <a:ext cx="10896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Lipophilicity   测试 RMSE / logD</a:t>
            </a:r>
            <a:endParaRPr lang="en-US" sz="1815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26920"/>
          <a:ext cx="10972526" cy="260604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本次实验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原论文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训练均值基线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1.169 ± 0.014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未列此基线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RF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0.838 ± 0.011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0.876 ± 0.040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KRR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0.835 ± 0.016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0.899 ± 0.043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GraphConv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0.704 ± 0.016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0.655 ± 0.036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4968240"/>
            <a:ext cx="108963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GraphConv 为 0.704，RF / KRR 约为 0.84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 GraphConv 仍略高于论文的 0.655</a:t>
            </a:r>
            <a:endParaRPr lang="en-US" sz="20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骨架划分提高了 ESOL 的测试误差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 RMSE，log10(mol/L)。骨架划分固定，不是三折交叉验证。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 / 14</a:t>
            </a:r>
            <a:endParaRPr lang="en-US" sz="1155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59280"/>
          <a:ext cx="10972526" cy="268224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36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随机划分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骨架划分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训练均值基线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2.137 ± 0.016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2.315 ± 0.000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RF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1.190 ± 0.159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1.691 ± 0.018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KRR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1.485 ± 0.119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2.472 ± 0.000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GraphConv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1.046 ± 0.106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1.370 ± 0.036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930140"/>
            <a:ext cx="10820129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A64D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骨架测试中，KRR 比均值基线更差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09585" y="5623560"/>
            <a:ext cx="1082012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随机划分成绩不能替代新骨架外推评估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FreeSolv 的数据单位错误已纠正并重跑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来源：data/freesolv/SOURCE-CORRECTION.md。错误批次未进入最终汇总。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24824" y="1714500"/>
            <a:ext cx="10439139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5500" b="1" dirty="0">
                <a:solidFill>
                  <a:srgbClr val="A64D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3.845×</a:t>
            </a:r>
            <a:endParaRPr lang="en-US" sz="5500" dirty="0"/>
          </a:p>
        </p:txBody>
      </p:sp>
      <p:sp>
        <p:nvSpPr>
          <p:cNvPr id="6" name="Text 4"/>
          <p:cNvSpPr/>
          <p:nvPr/>
        </p:nvSpPr>
        <p:spPr>
          <a:xfrm>
            <a:off x="640064" y="3025140"/>
            <a:ext cx="1059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3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误把标准化误差标成 kcal/mol 时的虚假改善幅度</a:t>
            </a:r>
            <a:endParaRPr lang="en-US" sz="2035" dirty="0"/>
          </a:p>
        </p:txBody>
      </p:sp>
      <p:sp>
        <p:nvSpPr>
          <p:cNvPr id="7" name="Text 5"/>
          <p:cNvSpPr/>
          <p:nvPr/>
        </p:nvSpPr>
        <p:spPr>
          <a:xfrm>
            <a:off x="640064" y="4229100"/>
            <a:ext cx="10743931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纠正后使用原始 SAMPL.csv 的 expt 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64" y="4937760"/>
            <a:ext cx="107439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仅训练集拟合标准化；完整重跑并排除错误批次</a:t>
            </a:r>
            <a:endParaRPr lang="en-US" sz="19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重复结构限制随机划分的外推解释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来源：verification/summary.json、diagnostics.json。结构按规范 SMILES 核对。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/ 14</a:t>
            </a:r>
            <a:endParaRPr lang="en-US" sz="1155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05940"/>
          <a:ext cx="10972526" cy="220218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50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数据集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重复结构行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训练 / 测试同结构交集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ESOL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 / 2 / 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FreeSolv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/ 0 / 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Lipophilicity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/ 0 / 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213860"/>
            <a:ext cx="10667733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9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交集按种子 123、456、789 顺序列出</a:t>
            </a:r>
            <a:endParaRPr lang="en-US" sz="1595" dirty="0"/>
          </a:p>
        </p:txBody>
      </p:sp>
      <p:sp>
        <p:nvSpPr>
          <p:cNvPr id="7" name="Text 4"/>
          <p:cNvSpPr/>
          <p:nvPr/>
        </p:nvSpPr>
        <p:spPr>
          <a:xfrm>
            <a:off x="609585" y="5006340"/>
            <a:ext cx="1089632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4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48 次运行均保留逐分子预测与分区索引</a:t>
            </a:r>
            <a:endParaRPr lang="en-US" sz="2145" dirty="0"/>
          </a:p>
        </p:txBody>
      </p:sp>
      <p:sp>
        <p:nvSpPr>
          <p:cNvPr id="8" name="Text 5"/>
          <p:cNvSpPr/>
          <p:nvPr/>
        </p:nvSpPr>
        <p:spPr>
          <a:xfrm>
            <a:off x="609585" y="5646420"/>
            <a:ext cx="10896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9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独立重算指标，并核对标签、单位、哈希与训练集标准化</a:t>
            </a:r>
            <a:endParaRPr lang="en-US" sz="159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本次结果仍有明确的复现边界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来源：原论文方法与本地固定实验协议。差异不能单独解释某一个结果。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676400"/>
            <a:ext cx="5105272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2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本轮已完成</a:t>
            </a:r>
            <a:endParaRPr lang="en-US" sz="2420" dirty="0"/>
          </a:p>
        </p:txBody>
      </p:sp>
      <p:sp>
        <p:nvSpPr>
          <p:cNvPr id="6" name="Text 4"/>
          <p:cNvSpPr/>
          <p:nvPr/>
        </p:nvSpPr>
        <p:spPr>
          <a:xfrm>
            <a:off x="609585" y="2499360"/>
            <a:ext cx="5105272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个完整数据集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类模型，3 个种子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48 次训练与评估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逐分子预测与独立指标核验</a:t>
            </a:r>
            <a:endParaRPr lang="en-US" sz="2090" dirty="0"/>
          </a:p>
        </p:txBody>
      </p:sp>
      <p:sp>
        <p:nvSpPr>
          <p:cNvPr id="7" name="Text 5"/>
          <p:cNvSpPr/>
          <p:nvPr/>
        </p:nvSpPr>
        <p:spPr>
          <a:xfrm>
            <a:off x="6476838" y="1676400"/>
            <a:ext cx="5105272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20" b="1" dirty="0">
                <a:solidFill>
                  <a:srgbClr val="A64D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本轮未覆盖</a:t>
            </a:r>
            <a:endParaRPr lang="en-US" sz="2420" dirty="0"/>
          </a:p>
        </p:txBody>
      </p:sp>
      <p:sp>
        <p:nvSpPr>
          <p:cNvPr id="8" name="Text 6"/>
          <p:cNvSpPr/>
          <p:nvPr/>
        </p:nvSpPr>
        <p:spPr>
          <a:xfrm>
            <a:off x="6476838" y="2499360"/>
            <a:ext cx="5105272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 17 数据集与全部算法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原论文超参数搜索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原始环境与精确分区还原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湿实验、临床或靶点验证</a:t>
            </a:r>
            <a:endParaRPr lang="en-US" sz="20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F8FA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AIDD 基准结果应按任务和划分解读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依据：本轮三个任务结果与 ESOL 骨架诊断。以下为方法学解读。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40064" y="1691640"/>
            <a:ext cx="10667733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695" b="1" dirty="0">
                <a:solidFill>
                  <a:srgbClr val="BFE6C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模型优势依赖具体任务</a:t>
            </a:r>
            <a:endParaRPr lang="en-US" sz="2695" dirty="0"/>
          </a:p>
        </p:txBody>
      </p:sp>
      <p:sp>
        <p:nvSpPr>
          <p:cNvPr id="6" name="Text 4"/>
          <p:cNvSpPr/>
          <p:nvPr/>
        </p:nvSpPr>
        <p:spPr>
          <a:xfrm>
            <a:off x="640064" y="2369820"/>
            <a:ext cx="1059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5" dirty="0">
                <a:solidFill>
                  <a:srgbClr val="F8FA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FreeSolv 的负结果，与 ESOL、脂溶性的排序并存</a:t>
            </a:r>
            <a:endParaRPr lang="en-US" sz="1925" dirty="0"/>
          </a:p>
        </p:txBody>
      </p:sp>
      <p:sp>
        <p:nvSpPr>
          <p:cNvPr id="7" name="Text 5"/>
          <p:cNvSpPr/>
          <p:nvPr/>
        </p:nvSpPr>
        <p:spPr>
          <a:xfrm>
            <a:off x="640064" y="3398520"/>
            <a:ext cx="10667733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695" b="1" dirty="0">
                <a:solidFill>
                  <a:srgbClr val="BFE6C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外推能力需要相匹配的划分</a:t>
            </a:r>
            <a:endParaRPr lang="en-US" sz="2695" dirty="0"/>
          </a:p>
        </p:txBody>
      </p:sp>
      <p:sp>
        <p:nvSpPr>
          <p:cNvPr id="8" name="Text 6"/>
          <p:cNvSpPr/>
          <p:nvPr/>
        </p:nvSpPr>
        <p:spPr>
          <a:xfrm>
            <a:off x="640064" y="4076700"/>
            <a:ext cx="1059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5" dirty="0">
                <a:solidFill>
                  <a:srgbClr val="F8FA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随机划分中的低误差，不能保证新骨架上的表现</a:t>
            </a:r>
            <a:endParaRPr lang="en-US" sz="1925" dirty="0"/>
          </a:p>
        </p:txBody>
      </p:sp>
      <p:sp>
        <p:nvSpPr>
          <p:cNvPr id="9" name="Text 7"/>
          <p:cNvSpPr/>
          <p:nvPr/>
        </p:nvSpPr>
        <p:spPr>
          <a:xfrm>
            <a:off x="640064" y="5364480"/>
            <a:ext cx="10591535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70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这份结果支持基准评估，不构成候选药物有效性的证据</a:t>
            </a:r>
            <a:endParaRPr lang="en-US" sz="18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文献与可复运行证据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实验资料日期：2026-09-18。当前报告保留局部复现范围与原始负结果。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668780"/>
            <a:ext cx="10896328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5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Wu et al. MoleculeNet</a:t>
            </a:r>
            <a:endParaRPr lang="en-US" sz="2255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25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Chemical Science 9, 513–530 (2018)</a:t>
            </a:r>
            <a:endParaRPr lang="en-US" sz="2255" dirty="0"/>
          </a:p>
        </p:txBody>
      </p:sp>
      <p:sp>
        <p:nvSpPr>
          <p:cNvPr id="6" name="Text 4"/>
          <p:cNvSpPr/>
          <p:nvPr/>
        </p:nvSpPr>
        <p:spPr>
          <a:xfrm>
            <a:off x="609585" y="2880360"/>
            <a:ext cx="1089632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6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DOI 10.1039/C7SC02664A    PMID 29629118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609585" y="3802380"/>
            <a:ext cx="1089632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5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本地复运行与审计入口</a:t>
            </a:r>
            <a:endParaRPr lang="en-US" sz="2255" dirty="0"/>
          </a:p>
        </p:txBody>
      </p:sp>
      <p:sp>
        <p:nvSpPr>
          <p:cNvPr id="8" name="Text 6"/>
          <p:cNvSpPr/>
          <p:nvPr/>
        </p:nvSpPr>
        <p:spPr>
          <a:xfrm>
            <a:off x="609585" y="4518660"/>
            <a:ext cx="10896328" cy="122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experiment.json / benchmark.py</a:t>
            </a:r>
            <a:endParaRPr lang="en-US" sz="1815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verification/summary.json / runs.json</a:t>
            </a:r>
            <a:endParaRPr lang="en-US" sz="1815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results/ 与 results-corrected/：预测、分区、指标</a:t>
            </a:r>
            <a:endParaRPr lang="en-US" sz="181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Paper2Any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paper2ppt_editable</dc:title>
  <dc:subject>Editable Canvas PPT export</dc:subject>
  <dc:creator>Paper2Any</dc:creator>
  <cp:lastModifiedBy>Paper2Any</cp:lastModifiedBy>
  <cp:revision>1</cp:revision>
  <dcterms:created xsi:type="dcterms:W3CDTF">2026-09-19T01:40:16Z</dcterms:created>
  <dcterms:modified xsi:type="dcterms:W3CDTF">2026-09-19T01:40:16Z</dcterms:modified>
</cp:coreProperties>
</file>