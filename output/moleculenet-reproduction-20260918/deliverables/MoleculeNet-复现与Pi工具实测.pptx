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5d3f0b40834515" /><Relationship Type="http://schemas.openxmlformats.org/officeDocument/2006/relationships/extended-properties" Target="/docProps/app.xml" Id="Rdfd8dcad1fb04ca7" /><Relationship Type="http://schemas.openxmlformats.org/officeDocument/2006/relationships/officeDocument" Target="/ppt/presentation.xml" Id="Rb21053e7dc4947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8a5153eb1a437f"/>
  </p:sldMasterIdLst>
  <p:notesMasterIdLst>
    <p:notesMasterId xmlns:r="http://schemas.openxmlformats.org/officeDocument/2006/relationships" r:id="R1a5de5064939491c"/>
  </p:notesMasterIdLst>
  <p:sldIdLst>
    <p:sldId xmlns:r="http://schemas.openxmlformats.org/officeDocument/2006/relationships" id="256" r:id="R189e366cac654261"/>
    <p:sldId xmlns:r="http://schemas.openxmlformats.org/officeDocument/2006/relationships" id="257" r:id="R80d9458b69ea4aac"/>
    <p:sldId xmlns:r="http://schemas.openxmlformats.org/officeDocument/2006/relationships" id="258" r:id="R07f5079dddef40d7"/>
    <p:sldId xmlns:r="http://schemas.openxmlformats.org/officeDocument/2006/relationships" id="259" r:id="R5a47adaa47b348df"/>
    <p:sldId xmlns:r="http://schemas.openxmlformats.org/officeDocument/2006/relationships" id="260" r:id="Rb730d1541e424e5f"/>
    <p:sldId xmlns:r="http://schemas.openxmlformats.org/officeDocument/2006/relationships" id="261" r:id="R951e3da32e054cf5"/>
    <p:sldId xmlns:r="http://schemas.openxmlformats.org/officeDocument/2006/relationships" id="262" r:id="Ra0ebe04df589461f"/>
    <p:sldId xmlns:r="http://schemas.openxmlformats.org/officeDocument/2006/relationships" id="263" r:id="R29f9ab15ebe24544"/>
    <p:sldId xmlns:r="http://schemas.openxmlformats.org/officeDocument/2006/relationships" id="264" r:id="R035fe85b969e4533"/>
    <p:sldId xmlns:r="http://schemas.openxmlformats.org/officeDocument/2006/relationships" id="265" r:id="R6c85ba3bfe9b4a7b"/>
    <p:sldId xmlns:r="http://schemas.openxmlformats.org/officeDocument/2006/relationships" id="266" r:id="Rc146a93bc6544675"/>
    <p:sldId xmlns:r="http://schemas.openxmlformats.org/officeDocument/2006/relationships" id="267" r:id="Rbc0e738dafeb4c3d"/>
    <p:sldId xmlns:r="http://schemas.openxmlformats.org/officeDocument/2006/relationships" id="268" r:id="Rec3b70b061dd415e"/>
    <p:sldId xmlns:r="http://schemas.openxmlformats.org/officeDocument/2006/relationships" id="269" r:id="R6872921c25d5470a"/>
    <p:sldId xmlns:r="http://schemas.openxmlformats.org/officeDocument/2006/relationships" id="270" r:id="Rc747afcd06844b48"/>
    <p:sldId xmlns:r="http://schemas.openxmlformats.org/officeDocument/2006/relationships" id="271" r:id="Rfefaace52d604f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26a1ddc1874867" /><Relationship Type="http://schemas.openxmlformats.org/officeDocument/2006/relationships/slideMaster" Target="/ppt/slideMasters/slideMaster1.xml" Id="Rbe8a5153eb1a437f" /><Relationship Type="http://schemas.openxmlformats.org/officeDocument/2006/relationships/notesMaster" Target="/ppt/notesMasters/notesMaster1.xml" Id="R1a5de5064939491c" /><Relationship Type="http://schemas.openxmlformats.org/officeDocument/2006/relationships/presProps" Target="/ppt/presProps.xml" Id="Rfa0591544462487f" /><Relationship Type="http://schemas.openxmlformats.org/officeDocument/2006/relationships/tableStyles" Target="/ppt/tableStyles.xml" Id="Rda604b3b8ef141e3" /><Relationship Type="http://schemas.openxmlformats.org/officeDocument/2006/relationships/slide" Target="/ppt/slides/slide1.xml" Id="R189e366cac654261" /><Relationship Type="http://schemas.openxmlformats.org/officeDocument/2006/relationships/slide" Target="/ppt/slides/slide2.xml" Id="R80d9458b69ea4aac" /><Relationship Type="http://schemas.openxmlformats.org/officeDocument/2006/relationships/slide" Target="/ppt/slides/slide3.xml" Id="R07f5079dddef40d7" /><Relationship Type="http://schemas.openxmlformats.org/officeDocument/2006/relationships/slide" Target="/ppt/slides/slide4.xml" Id="R5a47adaa47b348df" /><Relationship Type="http://schemas.openxmlformats.org/officeDocument/2006/relationships/slide" Target="/ppt/slides/slide5.xml" Id="Rb730d1541e424e5f" /><Relationship Type="http://schemas.openxmlformats.org/officeDocument/2006/relationships/slide" Target="/ppt/slides/slide6.xml" Id="R951e3da32e054cf5" /><Relationship Type="http://schemas.openxmlformats.org/officeDocument/2006/relationships/slide" Target="/ppt/slides/slide7.xml" Id="Ra0ebe04df589461f" /><Relationship Type="http://schemas.openxmlformats.org/officeDocument/2006/relationships/slide" Target="/ppt/slides/slide8.xml" Id="R29f9ab15ebe24544" /><Relationship Type="http://schemas.openxmlformats.org/officeDocument/2006/relationships/slide" Target="/ppt/slides/slide9.xml" Id="R035fe85b969e4533" /><Relationship Type="http://schemas.openxmlformats.org/officeDocument/2006/relationships/slide" Target="/ppt/slides/slide10.xml" Id="R6c85ba3bfe9b4a7b" /><Relationship Type="http://schemas.openxmlformats.org/officeDocument/2006/relationships/slide" Target="/ppt/slides/slide11.xml" Id="Rc146a93bc6544675" /><Relationship Type="http://schemas.openxmlformats.org/officeDocument/2006/relationships/slide" Target="/ppt/slides/slide12.xml" Id="Rbc0e738dafeb4c3d" /><Relationship Type="http://schemas.openxmlformats.org/officeDocument/2006/relationships/slide" Target="/ppt/slides/slide13.xml" Id="Rec3b70b061dd415e" /><Relationship Type="http://schemas.openxmlformats.org/officeDocument/2006/relationships/slide" Target="/ppt/slides/slide14.xml" Id="R6872921c25d5470a" /><Relationship Type="http://schemas.openxmlformats.org/officeDocument/2006/relationships/slide" Target="/ppt/slides/slide15.xml" Id="Rc747afcd06844b48" /><Relationship Type="http://schemas.openxmlformats.org/officeDocument/2006/relationships/slide" Target="/ppt/slides/slide16.xml" Id="Rfefaace52d604f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2725b170f541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30cd4983f440e3" /><Relationship Type="http://schemas.openxmlformats.org/officeDocument/2006/relationships/notesMaster" Target="/ppt/notesMasters/notesMaster1.xml" Id="R05d55093d04f4d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93516110644067" /><Relationship Type="http://schemas.openxmlformats.org/officeDocument/2006/relationships/notesMaster" Target="/ppt/notesMasters/notesMaster1.xml" Id="R6bace23f621841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8f9c4f0ecb4e6e" /><Relationship Type="http://schemas.openxmlformats.org/officeDocument/2006/relationships/notesMaster" Target="/ppt/notesMasters/notesMaster1.xml" Id="Rd1c46b25b82345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befb3c8fb64cb0" /><Relationship Type="http://schemas.openxmlformats.org/officeDocument/2006/relationships/notesMaster" Target="/ppt/notesMasters/notesMaster1.xml" Id="Rbde5ddb17e4242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5fa156407f4211" /><Relationship Type="http://schemas.openxmlformats.org/officeDocument/2006/relationships/notesMaster" Target="/ppt/notesMasters/notesMaster1.xml" Id="R51a2c100bbee4e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bd8eb758574e61" /><Relationship Type="http://schemas.openxmlformats.org/officeDocument/2006/relationships/notesMaster" Target="/ppt/notesMasters/notesMaster1.xml" Id="R4a09b96e142d4d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d09c77ddb04a4c" /><Relationship Type="http://schemas.openxmlformats.org/officeDocument/2006/relationships/notesMaster" Target="/ppt/notesMasters/notesMaster1.xml" Id="Rac86db499a6144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016b723cb94001" /><Relationship Type="http://schemas.openxmlformats.org/officeDocument/2006/relationships/notesMaster" Target="/ppt/notesMasters/notesMaster1.xml" Id="R8652e96432d64a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f115a88b4041f6" /><Relationship Type="http://schemas.openxmlformats.org/officeDocument/2006/relationships/notesMaster" Target="/ppt/notesMasters/notesMaster1.xml" Id="R37728d5d2d3d4b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a5697e6e5048e2" /><Relationship Type="http://schemas.openxmlformats.org/officeDocument/2006/relationships/notesMaster" Target="/ppt/notesMasters/notesMaster1.xml" Id="Rca8237ce95154d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67922c55e84fb6" /><Relationship Type="http://schemas.openxmlformats.org/officeDocument/2006/relationships/notesMaster" Target="/ppt/notesMasters/notesMaster1.xml" Id="R3f42802800d443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1d84fe00b34041" /><Relationship Type="http://schemas.openxmlformats.org/officeDocument/2006/relationships/notesMaster" Target="/ppt/notesMasters/notesMaster1.xml" Id="R2c9351b9d95346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77f7b795214ebd" /><Relationship Type="http://schemas.openxmlformats.org/officeDocument/2006/relationships/notesMaster" Target="/ppt/notesMasters/notesMaster1.xml" Id="Rd88f189014a54e0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de2573a0ec465e" /><Relationship Type="http://schemas.openxmlformats.org/officeDocument/2006/relationships/notesMaster" Target="/ppt/notesMasters/notesMaster1.xml" Id="R3d3cff57dbfe4eb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da7cee96624ae7" /><Relationship Type="http://schemas.openxmlformats.org/officeDocument/2006/relationships/notesMaster" Target="/ppt/notesMasters/notesMaster1.xml" Id="R01158e1614a541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76125b493f646a6" /><Relationship Type="http://schemas.openxmlformats.org/officeDocument/2006/relationships/notesMaster" Target="/ppt/notesMasters/notesMaster1.xml" Id="Re60cc05b59f149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本报告解释 MoleculeNet 的一个可在本机执行的子集。论文提出统一分子机器学习基准，本次选择三个理化性质回归数据集，比较传统指纹模型与图卷积，同时检查 Pi 调用 Paper2Agent 和 Paper2Any 的真实工作过程。48 个运行包括 36 个随机划分实验和 12 个 ESOL 骨架划分扩展。所有实验都是现代环境下的局部复现，不能代表完整论文复现。来源：https://pubmed.ncbi.nlm.nih.gov/29629118/；本地 experiment.json、verification/summary.json。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Wu 等在 Chemical Science 发表 MoleculeNet，DOI 10.1039/C7SC02664A。PubMed 收录 PMID 29629118，在线发表于2017年，卷期属于2018年。RSC 当前期刊指标把 Chemical Science 列为 JCR Q1，分类为 Chemistry, Multidisciplinary，这不是中科院分区声明。本次数据量以实际下载文件为准，均使用全量有效记录。三个任务属于药物研发的理化性质预测，结果不能解释为靶点验证或临床证据。来源：https://pubmed.ncbi.nlm.nih.gov/29629118/；https://www.rsc.org/publishing/journals/journal-metrics；data/*/metadata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本次用 ECFP4 指纹训练 RF 和 KRR。ECFP 的半径是2，向量长度是1024。GraphConv 使用 DeepChem 的 ConvMolFeaturizer，每个原子75维输入特征，两层128维图卷积和256维稠密层。均值基线只使用训练集标签均值，用来判断模型是否学到有效信息。右侧为论文原始表示方式示意图，完整保留；我们没有测试其中的库仑矩阵、网格特征、对称函数和Weave模型。图源：https://arxiv.org/abs/1703.00564v3，p.17，Figure 5；作者署名 Wu et al.，CC BY-NC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实验使用随机80/10/10划分，种子123、456、789。不同随机划分可以让同一骨架出现在训练和测试中，所以测试更接近同分布预测。ESOL扩展使用DeepChem确定性骨架划分，三个种子只改变学习器随机性，不产生三个独立测试集。该扩展不是原论文理化性质图的原协议。所有划分都保存了源行索引，并独立检查结构和骨架交集。图源：https://arxiv.org/abs/1703.00564v3，p.13，Figure 3，Wu et al.，CC BY-NC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实验配置在运行前保存在experiment.json，后续所有运行校验同一配置哈希。原论文采用超参数优化，本次使用固定DeepChem预设，不做20轮高斯过程搜索。最后100 epoch固定作为GraphConv结果，不根据测试集挑选检查点。目标标准化仅拟合训练集，再逆变换预测到原始单位。使用DeepChem2.8.0、TensorFlow2.15.1和CPU，因此只能描述性能量级与排序，不能把差异全部归因于算法。来源：experiment.json；results*/provenance.json；https://arxiv.org/abs/1703.00564v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每个单元格都是三次独立随机划分测试RMSE的均值加样本标准差，标准差分母为n-1。不同数据集使用不同物理单位，不能跨行比较数值大小。每次训练都保留源行、SMILES、预测值和真实值，verify_results.py独立重算全部指标。均值基线只拟合训练标签。下页开始逐数据集对照论文原始结果。来源：verification/summary.csv；verification/run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OL主实验使用全量1128条数据，随机80/10/10划分。图中比较三个对应学习模型的均值，深绿色是本次固定参数实验，灰紫色是作者稿Table8原始报告。误差条没有画在这张均值图中，精确的标准差列在本页下方及总表。本次未进行原论文的超参数优化，版本和种子也不同，因此图形差距只用于描述，不构成显著性或优越性声明。来源：verification/summary.json；https://arxiv.org/abs/1703.00564v3 Table8 p.51。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eSolv主实验使用全量642条数据，随机80/10/10划分。图中比较三个对应学习模型的均值，深绿色是本次固定参数实验，灰紫色是作者稿Table8原始报告。误差条没有画在这张均值图中，精确的标准差列在本页下方及总表。本次未进行原论文的超参数优化，版本和种子也不同，因此图形差距只用于描述，不构成显著性或优越性声明。来源：verification/summary.json；https://arxiv.org/abs/1703.00564v3 Table8 p.51。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pophilicity主实验使用全量4200条数据，随机80/10/10划分。图中比较三个对应学习模型的均值，深绿色是本次固定参数实验，灰紫色是作者稿Table8原始报告。误差条没有画在这张均值图中，精确的标准差列在本页下方及总表。本次未进行原论文的超参数优化，版本和种子也不同，因此图形差距只用于描述，不构成显著性或优越性声明。来源：verification/summary.json；https://arxiv.org/abs/1703.00564v3 Table8 p.51。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项额外诊断比较相同模型在随机划分和骨架划分下的误差。骨架划分保持测试骨架不出现在训练中，评估的外推难度更高，但单次确定性划分也改变了标签分布。三个种子不是三个独立骨架划分，不能据此推断泛化分布的置信区间。KRR在该骨架测试集的RMSE高于训练均值基线，是必须报告的负结果。此扩展不属于原论文Fig.12的随机理化性质比较。来源：verification/split-audits.json、results/esol/scaffold/*/split-audi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图中展示三种随机划分的验证集RMSE，每10个epoch记录一次，所有数值都已逆变换为原始单位。最终报告固定使用100 epoch，没有在最低验证误差点早停，也没有看测试集选择模型。验证曲线的波动以及种子差异提醒我们，单次训练不能代表稳定结论。这里没有把不同单位的三个数据集绘在同一纵轴上。来源：results/esol/random/{123,456,789}/gc/learning-curv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收脚本没有导入训练脚本，也没有调用其指标函数，而是用Python标准库从每个预测CSV重算RMSE、MAE和R²，再匹配原始下载文件中的标签和SMILES。它检查源行完整覆盖且分区不交叉、标准化只拟合训练集、预测有限、GraphConv完成100 epoch。重复性测试比较首次预实验与主实验相同ESOL种子的完整预测文件。所有数值校验属于这批固定文件，不能替代独立外部数据验证。来源：verify_results.py、verification/runs.json、verification/summary.json。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本次使用jmiao24/Paper2Agent仓库中的Paper2Skill分支，不运行多代理Paper2MCP工作流。主代理预先审阅65页作者稿，Pi在GUI内真实执行prepare、extract、reuse-review、build和strict verify，把审查依据和限制带入新包。复杂表格采用原图，核心Table8逐行转录并核验。上游Windows路径检查把反斜杠与正斜杠清单比较，导致合法文件报Unexpected；临时副本将relative path改为as_posix，一行兼容补丁后严格校验通过。不是未经修改的全流程通过声明。来源：https://github.com/jmiao24/Paper2Agent commit8c2d059165ef8cdcb70dbea76655b9c2b55b38e6；gui-test/paper2agent/moleculenet-review/verification.json。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这里测试OpenDCAI/Paper2Any固定提交中的两个原生文本组件，outline_agent和outline_refine_agent，都使用simple mode、DeepSeek deepseek-flash真实API调用。没有启动自主子代理。输入是Paper2Agent转出的正文及独立核验结果，输出10页结构化大纲，再根据明确反馈修订。校验确认页数、必需字段、无虚构图片引用且修订不是原样返回。我们额外审查科学内容。进一步测试原生结构化幻灯片服务和导出路线：状态failed，处理10页，原生导出完成false。默认模板、API失败或输出截断都不能当作成功。未覆盖MinerU、图片生成、SAM、完整Web平台。本说明稿由独立制版脚本据真实结果制作，不冒充上游PPT导出。上游两处明文密钥日志已在测试副本脱敏。来源：https://github.com/OpenDCAI/Paper2Any commitb538531e25798d9b9d41afd5fa93c9222949b5a5；gui-test/paper2any/result.json和frontend/result.json。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截图来自本机Electron窗口，使用隔离测试目录，没有模拟API回包。确认准确模型后，通过技能快捷补全和Enter发送自然语言任务，Pi真实调用上游脚本并写入文件。首轮因测试配置采用旧环境变量语法出现401，修正为新版插值后GUI连接测试通过，同一会话重试。运行中左侧可见任务。右侧报告预览和文件切换以acceptance.json记录为准。出现的缺陷和未测功能不应被截图掩盖。来源：gui-test/acceptance.json；gui-test/evidence；对应Pi JSONL会话。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来自这批保存并核验的真实实验。GraphConv在ESOL、Lipophilicity上的随机测试均值优于本次RF和KRR。这与论文强调可学习表示的方向相符，但不证明所有场景图模型都优越。骨架划分负结果和协议差异都保留。两个工具分别帮助建立可检索证据包和生成说明大纲，数字仍依赖实际训练与独立审计。本次没有覆盖全部17个数据集、所有算法、原始环境或完整多模态平台，因此应称为有明确范围的现代环境复现与组件验收。研究性质结果，不用于临床或患者决策。来源：verification/summary.json；两个上游仓库与验收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4297044c1543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13c16cdf844817" /><Relationship Type="http://schemas.openxmlformats.org/officeDocument/2006/relationships/slideLayout" Target="/ppt/slideLayouts/slideLayout1.xml" Id="R97e4bf742e9744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e4bf742e9744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87977b44741b8" /><Relationship Type="http://schemas.openxmlformats.org/officeDocument/2006/relationships/notesSlide" Target="/ppt/notesSlides/notesSlide1.xml" Id="R4b6cfb80a4344a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3de5b37fa46c2" /><Relationship Type="http://schemas.openxmlformats.org/officeDocument/2006/relationships/notesSlide" Target="/ppt/notesSlides/notesSlide2.xml" Id="R2d44f07cb3e240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d00124bfd45df" /><Relationship Type="http://schemas.openxmlformats.org/officeDocument/2006/relationships/image" Target="/ppt/media/image.jpeg" Id="R341e7eadc20b45ea" /><Relationship Type="http://schemas.openxmlformats.org/officeDocument/2006/relationships/notesSlide" Target="/ppt/notesSlides/notesSlide3.xml" Id="R38b42e465f7949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a8a19c3074b28" /><Relationship Type="http://schemas.openxmlformats.org/officeDocument/2006/relationships/image" Target="/ppt/media/image2.jpeg" Id="Ra3a2360ad37b475a" /><Relationship Type="http://schemas.openxmlformats.org/officeDocument/2006/relationships/notesSlide" Target="/ppt/notesSlides/notesSlide4.xml" Id="Rd9cef021d02e49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e0dc2c28147fa" /><Relationship Type="http://schemas.openxmlformats.org/officeDocument/2006/relationships/notesSlide" Target="/ppt/notesSlides/notesSlide5.xml" Id="R767610569c0444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a03c09de94b4c" /><Relationship Type="http://schemas.openxmlformats.org/officeDocument/2006/relationships/notesSlide" Target="/ppt/notesSlides/notesSlide6.xml" Id="Rfcd28f9f646142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c8c39c49e421e" /><Relationship Type="http://schemas.openxmlformats.org/officeDocument/2006/relationships/chart" Target="/ppt/slides/charts/chart1.xml" Id="R79230af28ef144d7" /><Relationship Type="http://schemas.openxmlformats.org/officeDocument/2006/relationships/notesSlide" Target="/ppt/notesSlides/notesSlide7.xml" Id="Rba8975f0722b48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42461548440d7" /><Relationship Type="http://schemas.openxmlformats.org/officeDocument/2006/relationships/chart" Target="/ppt/slides/charts/chart2.xml" Id="R1a5645f59e374cf1" /><Relationship Type="http://schemas.openxmlformats.org/officeDocument/2006/relationships/notesSlide" Target="/ppt/notesSlides/notesSlide8.xml" Id="R645a86779ea643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36da4a6534c29" /><Relationship Type="http://schemas.openxmlformats.org/officeDocument/2006/relationships/chart" Target="/ppt/slides/charts/chart3.xml" Id="R6195972e0f8c4d4f" /><Relationship Type="http://schemas.openxmlformats.org/officeDocument/2006/relationships/notesSlide" Target="/ppt/notesSlides/notesSlide9.xml" Id="Rd54ba639e78946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21a660b28448c" /><Relationship Type="http://schemas.openxmlformats.org/officeDocument/2006/relationships/chart" Target="/ppt/slides/charts/chart4.xml" Id="R3a14fc61f7f64956" /><Relationship Type="http://schemas.openxmlformats.org/officeDocument/2006/relationships/notesSlide" Target="/ppt/notesSlides/notesSlide10.xml" Id="Rda2a4aae98be43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a4cc438a54d34" /><Relationship Type="http://schemas.openxmlformats.org/officeDocument/2006/relationships/chart" Target="/ppt/slides/charts/chart5.xml" Id="R73f16ca1c0554379" /><Relationship Type="http://schemas.openxmlformats.org/officeDocument/2006/relationships/notesSlide" Target="/ppt/notesSlides/notesSlide11.xml" Id="R9278cb9df01e4e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2f60dfe9947e1" /><Relationship Type="http://schemas.openxmlformats.org/officeDocument/2006/relationships/notesSlide" Target="/ppt/notesSlides/notesSlide12.xml" Id="R09f3f15b76d54c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d08c80c8f44ab" /><Relationship Type="http://schemas.openxmlformats.org/officeDocument/2006/relationships/notesSlide" Target="/ppt/notesSlides/notesSlide13.xml" Id="R0ad3894a95834f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cd1dda76e4fe1" /><Relationship Type="http://schemas.openxmlformats.org/officeDocument/2006/relationships/notesSlide" Target="/ppt/notesSlides/notesSlide14.xml" Id="Re29ccd937670412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a70ca59fd444e" /><Relationship Type="http://schemas.openxmlformats.org/officeDocument/2006/relationships/image" Target="/ppt/media/image3.jpeg" Id="R6f6a90e9ebcf4827" /><Relationship Type="http://schemas.openxmlformats.org/officeDocument/2006/relationships/notesSlide" Target="/ppt/notesSlides/notesSlide15.xml" Id="R89f98e6611be405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082e5c97c4e5c" /><Relationship Type="http://schemas.openxmlformats.org/officeDocument/2006/relationships/notesSlide" Target="/ppt/notesSlides/notesSlide16.xml" Id="Rc56c42c1975c4b0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本次复现</c:v>
          </c:tx>
          <c:spPr>
            <a:solidFill xmlns:a="http://schemas.openxmlformats.org/drawingml/2006/main">
              <a:srgbClr val="12776F"/>
            </a:solidFill>
          </c:spPr>
          <c:cat>
            <c:strRef>
              <c:f>'Chart Data'!$A$2:$A$4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1.18956710186</c:v>
                </c:pt>
                <c:pt idx="1">
                  <c:v>1.48467915922</c:v>
                </c:pt>
                <c:pt idx="2">
                  <c:v>1.04629004051</c:v>
                </c:pt>
              </c:numCache>
            </c:numRef>
          </c:val>
        </c:ser>
        <c:ser>
          <c:idx val="1"/>
          <c:order val="1"/>
          <c:tx>
            <c:v>论文原始</c:v>
          </c:tx>
          <c:spPr>
            <a:solidFill xmlns:a="http://schemas.openxmlformats.org/drawingml/2006/main">
              <a:srgbClr val="817BAA"/>
            </a:solidFill>
          </c:spPr>
          <c:cat>
            <c:strRef>
              <c:f>'Chart Data'!$C$2:$C$4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Data'!$D$2:$D$4</c:f>
              <c:numCache>
                <c:formatCode>0.000</c:formatCode>
                <c:ptCount val="3"/>
                <c:pt idx="0">
                  <c:v>1.07</c:v>
                </c:pt>
                <c:pt idx="1">
                  <c:v>1.53</c:v>
                </c:pt>
                <c:pt idx="2">
                  <c:v>0.97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D35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F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FD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8696D"/>
                    </a:solidFill>
                    <a:latin typeface="Noto Sans SC"/>
                    <a:ea typeface="Noto Sans SC"/>
                    <a:cs typeface="Noto Sans SC"/>
                  </a:rPr>
                  <a:t>测试 RMSE (log10(mol/L))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8696D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D35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6F4EE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本次复现</c:v>
          </c:tx>
          <c:spPr>
            <a:solidFill xmlns:a="http://schemas.openxmlformats.org/drawingml/2006/main">
              <a:srgbClr val="12776F"/>
            </a:solidFill>
          </c:spPr>
          <c:cat>
            <c:strRef>
              <c:f>'Chart Data'!$A$2:$A$4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2.06130160569</c:v>
                </c:pt>
                <c:pt idx="1">
                  <c:v>1.99888154466</c:v>
                </c:pt>
                <c:pt idx="2">
                  <c:v>2.15118478517</c:v>
                </c:pt>
              </c:numCache>
            </c:numRef>
          </c:val>
        </c:ser>
        <c:ser>
          <c:idx val="1"/>
          <c:order val="1"/>
          <c:tx>
            <c:v>论文原始</c:v>
          </c:tx>
          <c:spPr>
            <a:solidFill xmlns:a="http://schemas.openxmlformats.org/drawingml/2006/main">
              <a:srgbClr val="817BAA"/>
            </a:solidFill>
          </c:spPr>
          <c:cat>
            <c:strRef>
              <c:f>'Chart Data'!$C$2:$C$4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Data'!$D$2:$D$4</c:f>
              <c:numCache>
                <c:formatCode>0.000</c:formatCode>
                <c:ptCount val="3"/>
                <c:pt idx="0">
                  <c:v>2.03</c:v>
                </c:pt>
                <c:pt idx="1">
                  <c:v>2.11</c:v>
                </c:pt>
                <c:pt idx="2">
                  <c:v>1.4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D35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F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FD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8696D"/>
                    </a:solidFill>
                    <a:latin typeface="Noto Sans SC"/>
                    <a:ea typeface="Noto Sans SC"/>
                    <a:cs typeface="Noto Sans SC"/>
                  </a:rPr>
                  <a:t>测试 RMSE (kcal/mol)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8696D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D35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6F4EE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本次复现</c:v>
          </c:tx>
          <c:spPr>
            <a:solidFill xmlns:a="http://schemas.openxmlformats.org/drawingml/2006/main">
              <a:srgbClr val="12776F"/>
            </a:solidFill>
          </c:spPr>
          <c:cat>
            <c:strRef>
              <c:f>'Chart Data'!$A$2:$A$4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0.838405701292</c:v>
                </c:pt>
                <c:pt idx="1">
                  <c:v>0.835383692489</c:v>
                </c:pt>
                <c:pt idx="2">
                  <c:v>0.704098892239</c:v>
                </c:pt>
              </c:numCache>
            </c:numRef>
          </c:val>
        </c:ser>
        <c:ser>
          <c:idx val="1"/>
          <c:order val="1"/>
          <c:tx>
            <c:v>论文原始</c:v>
          </c:tx>
          <c:spPr>
            <a:solidFill xmlns:a="http://schemas.openxmlformats.org/drawingml/2006/main">
              <a:srgbClr val="817BAA"/>
            </a:solidFill>
          </c:spPr>
          <c:cat>
            <c:strRef>
              <c:f>'Chart Data'!$C$2:$C$4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Data'!$D$2:$D$4</c:f>
              <c:numCache>
                <c:formatCode>0.000</c:formatCode>
                <c:ptCount val="3"/>
                <c:pt idx="0">
                  <c:v>0.876</c:v>
                </c:pt>
                <c:pt idx="1">
                  <c:v>0.899</c:v>
                </c:pt>
                <c:pt idx="2">
                  <c:v>0.655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D35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F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FD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8696D"/>
                    </a:solidFill>
                    <a:latin typeface="Noto Sans SC"/>
                    <a:ea typeface="Noto Sans SC"/>
                    <a:cs typeface="Noto Sans SC"/>
                  </a:rPr>
                  <a:t>测试 RMSE (logD)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8696D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D35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6F4EE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Random</c:v>
          </c:tx>
          <c:spPr>
            <a:solidFill xmlns:a="http://schemas.openxmlformats.org/drawingml/2006/main">
              <a:srgbClr val="12776F"/>
            </a:solidFill>
          </c:spPr>
          <c:cat>
            <c:strRef>
              <c:f>'Chart Data'!$A$2:$A$5</c:f>
              <c:strCache>
                <c:ptCount val="4"/>
                <c:pt idx="0">
                  <c:v>均值基线</c:v>
                </c:pt>
                <c:pt idx="1">
                  <c:v>RF</c:v>
                </c:pt>
                <c:pt idx="2">
                  <c:v>KRR</c:v>
                </c:pt>
                <c:pt idx="3">
                  <c:v>GraphConv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2.13736758674</c:v>
                </c:pt>
                <c:pt idx="1">
                  <c:v>1.18956710186</c:v>
                </c:pt>
                <c:pt idx="2">
                  <c:v>1.48467915922</c:v>
                </c:pt>
                <c:pt idx="3">
                  <c:v>1.04629004051</c:v>
                </c:pt>
              </c:numCache>
            </c:numRef>
          </c:val>
        </c:ser>
        <c:ser>
          <c:idx val="1"/>
          <c:order val="1"/>
          <c:tx>
            <c:v>Scaffold</c:v>
          </c:tx>
          <c:spPr>
            <a:solidFill xmlns:a="http://schemas.openxmlformats.org/drawingml/2006/main">
              <a:srgbClr val="BF703E"/>
            </a:solidFill>
          </c:spPr>
          <c:cat>
            <c:strRef>
              <c:f>'Chart Data'!$C$2:$C$5</c:f>
              <c:strCache>
                <c:ptCount val="4"/>
                <c:pt idx="0">
                  <c:v>均值基线</c:v>
                </c:pt>
                <c:pt idx="1">
                  <c:v>RF</c:v>
                </c:pt>
                <c:pt idx="2">
                  <c:v>KRR</c:v>
                </c:pt>
                <c:pt idx="3">
                  <c:v>GraphConv</c:v>
                </c:pt>
              </c:strCache>
            </c:strRef>
          </c:cat>
          <c:val>
            <c:numRef>
              <c:f>'Chart Data'!$D$2:$D$5</c:f>
              <c:numCache>
                <c:formatCode>0.000</c:formatCode>
                <c:ptCount val="4"/>
                <c:pt idx="0">
                  <c:v>2.31497289567</c:v>
                </c:pt>
                <c:pt idx="1">
                  <c:v>1.69130503996</c:v>
                </c:pt>
                <c:pt idx="2">
                  <c:v>2.47233263232</c:v>
                </c:pt>
                <c:pt idx="3">
                  <c:v>1.36998991834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D35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F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FD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8696D"/>
                    </a:solidFill>
                    <a:latin typeface="Noto Sans SC"/>
                    <a:ea typeface="Noto Sans SC"/>
                    <a:cs typeface="Noto Sans SC"/>
                  </a:rPr>
                  <a:t>测试 RMSE (log₁₀(mol/L))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8696D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D35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6F4EE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seed 123</c:v>
          </c:tx>
          <c:spPr>
            <a:ln xmlns:a="http://schemas.openxmlformats.org/drawingml/2006/main" w="28575">
              <a:solidFill>
                <a:srgbClr val="12776F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12776F"/>
              </a:solidFill>
            </c:spPr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cat>
          <c:val>
            <c:numRef>
              <c:f>'Chart Data'!$B$2:$B$11</c:f>
              <c:numCache>
                <c:formatCode>0.000</c:formatCode>
                <c:ptCount val="10"/>
                <c:pt idx="0">
                  <c:v>1.69019476332</c:v>
                </c:pt>
                <c:pt idx="1">
                  <c:v>1.46074320837</c:v>
                </c:pt>
                <c:pt idx="2">
                  <c:v>1.42869325724</c:v>
                </c:pt>
                <c:pt idx="3">
                  <c:v>1.25500990082</c:v>
                </c:pt>
                <c:pt idx="4">
                  <c:v>1.18509097932</c:v>
                </c:pt>
                <c:pt idx="5">
                  <c:v>1.11638010775</c:v>
                </c:pt>
                <c:pt idx="6">
                  <c:v>1.05879517915</c:v>
                </c:pt>
                <c:pt idx="7">
                  <c:v>1.07663865439</c:v>
                </c:pt>
                <c:pt idx="8">
                  <c:v>1.08468356529</c:v>
                </c:pt>
                <c:pt idx="9">
                  <c:v>1.004742501</c:v>
                </c:pt>
              </c:numCache>
            </c:numRef>
          </c:val>
        </c:ser>
        <c:ser>
          <c:idx val="1"/>
          <c:order val="1"/>
          <c:tx>
            <c:v>seed 456</c:v>
          </c:tx>
          <c:spPr>
            <a:ln xmlns:a="http://schemas.openxmlformats.org/drawingml/2006/main" w="28575">
              <a:solidFill>
                <a:srgbClr val="817BAA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817BAA"/>
              </a:solidFill>
            </c:spPr>
          </c:marker>
          <c:cat>
            <c:numRef>
              <c:f>'Chart Data'!$C$2:$C$11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cat>
          <c:val>
            <c:numRef>
              <c:f>'Chart Data'!$D$2:$D$11</c:f>
              <c:numCache>
                <c:formatCode>0.000</c:formatCode>
                <c:ptCount val="10"/>
                <c:pt idx="0">
                  <c:v>1.65983383969</c:v>
                </c:pt>
                <c:pt idx="1">
                  <c:v>1.5088467901</c:v>
                </c:pt>
                <c:pt idx="2">
                  <c:v>1.43151131992</c:v>
                </c:pt>
                <c:pt idx="3">
                  <c:v>1.34543834786</c:v>
                </c:pt>
                <c:pt idx="4">
                  <c:v>1.2442403053</c:v>
                </c:pt>
                <c:pt idx="5">
                  <c:v>1.19449659073</c:v>
                </c:pt>
                <c:pt idx="6">
                  <c:v>1.13855132883</c:v>
                </c:pt>
                <c:pt idx="7">
                  <c:v>1.16910439013</c:v>
                </c:pt>
                <c:pt idx="8">
                  <c:v>1.1595606466</c:v>
                </c:pt>
                <c:pt idx="9">
                  <c:v>1.11689581157</c:v>
                </c:pt>
              </c:numCache>
            </c:numRef>
          </c:val>
        </c:ser>
        <c:ser>
          <c:idx val="2"/>
          <c:order val="2"/>
          <c:tx>
            <c:v>seed 789</c:v>
          </c:tx>
          <c:spPr>
            <a:ln xmlns:a="http://schemas.openxmlformats.org/drawingml/2006/main" w="28575">
              <a:solidFill>
                <a:srgbClr val="BF703E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BF703E"/>
              </a:solidFill>
            </c:spPr>
          </c:marker>
          <c:cat>
            <c:numRef>
              <c:f>'Chart Data'!$E$2:$E$11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cat>
          <c:val>
            <c:numRef>
              <c:f>'Chart Data'!$F$2:$F$11</c:f>
              <c:numCache>
                <c:formatCode>0.000</c:formatCode>
                <c:ptCount val="10"/>
                <c:pt idx="0">
                  <c:v>1.65118654336</c:v>
                </c:pt>
                <c:pt idx="1">
                  <c:v>1.50554723492</c:v>
                </c:pt>
                <c:pt idx="2">
                  <c:v>1.46492814422</c:v>
                </c:pt>
                <c:pt idx="3">
                  <c:v>1.41689392513</c:v>
                </c:pt>
                <c:pt idx="4">
                  <c:v>1.28933400891</c:v>
                </c:pt>
                <c:pt idx="5">
                  <c:v>1.1543539421</c:v>
                </c:pt>
                <c:pt idx="6">
                  <c:v>1.16240684411</c:v>
                </c:pt>
                <c:pt idx="7">
                  <c:v>1.11540615762</c:v>
                </c:pt>
                <c:pt idx="8">
                  <c:v>1.08453452353</c:v>
                </c:pt>
                <c:pt idx="9">
                  <c:v>1.00143075016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SC"/>
                  <a:ea typeface="Noto Sans SC"/>
                  <a:cs typeface="Noto Sans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latin typeface="Noto Sans SC"/>
                    <a:ea typeface="Noto Sans SC"/>
                    <a:cs typeface="Noto Sans SC"/>
                  </a:rPr>
                  <a:t>训练 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D6DFD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latin typeface="Noto Sans SC"/>
                    <a:ea typeface="Noto Sans SC"/>
                    <a:cs typeface="Noto Sans SC"/>
                  </a:rPr>
                  <a:t>验证 RMSE (log₁₀(mol/L))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D35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6F4EE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A2CAF-41F2-4215-84B8-3C03CCAE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61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MoleculeNet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EFC1C-A3EC-49DF-9ECC-AFCB16A0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670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分子性质预测复现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B22A0-2D8D-4BE4-90D2-4B8AFD20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B6D6CF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0">
                <a:solidFill>
                  <a:srgbClr val="B6D6CF"/>
                </a:solidFill>
                <a:latin typeface="Noto Sans SC"/>
                <a:ea typeface="Noto Sans SC"/>
                <a:cs typeface="Noto Sans SC"/>
              </a:rPr>
              <a:t>ESOL、FreeSolv 与 Lipophilicity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3B294-F1D2-49C3-9D85-26B3AECB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9D0D1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9D0D1"/>
                </a:solidFill>
                <a:latin typeface="Noto Sans SC"/>
                <a:ea typeface="Noto Sans SC"/>
                <a:cs typeface="Noto Sans SC"/>
              </a:rPr>
              <a:t>Pi GUI 实测  /  DeepSeek V4.1 Flash</a:t>
            </a:r>
          </a:p>
          <a:p xmlns:a="http://schemas.openxmlformats.org/drawingml/2006/main">
            <a:pPr>
              <a:defRPr sz="1800" b="0">
                <a:solidFill>
                  <a:srgbClr val="C9D0D1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9D0D1"/>
                </a:solidFill>
                <a:latin typeface="Noto Sans SC"/>
                <a:ea typeface="Noto Sans SC"/>
                <a:cs typeface="Noto Sans SC"/>
              </a:rPr>
              <a:t>2026 年 9 月 18 日</a:t>
            </a:r>
          </a:p>
        </p:txBody>
      </p:sp>
    </p:spTree>
    <p:extLst>
      <p:ext uri="{BB962C8B-B14F-4D97-AF65-F5344CB8AC3E}">
        <p14:creationId xmlns:p14="http://schemas.microsoft.com/office/powerpoint/2010/main" val="1486807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CF37E-D59E-4E8E-BC8A-14A88A61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研究对象与复现范围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A5798-3C7D-4BE2-84A8-A03697A2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论文：Wu 等，Chemical Science 9, 513–530 (2018)；JCR Q1，非中科院分区声明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669BC-B83E-4631-AEF4-067F5865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533525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1714500"/>
                <a:gridCol w="4000500"/>
                <a:gridCol w="306705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数据集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样本数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预测目标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误差单位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ESOL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1,128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水溶解度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log₁₀(mol/L)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FreeSolv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642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水合自由能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kcal/mol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Lipophilicity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4,200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脂溶性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logD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B99F3-D282-4FEB-B58A-EF50CF99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387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3 个数据集，4 个模型，3 个随机种子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46439-69C4-4706-8932-18D06858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另加 ESOL 骨架划分诊断，共 48 次真实训练与评估</a:t>
            </a:r>
          </a:p>
        </p:txBody>
      </p:sp>
    </p:spTree>
    <p:extLst>
      <p:ext uri="{BB962C8B-B14F-4D97-AF65-F5344CB8AC3E}">
        <p14:creationId xmlns:p14="http://schemas.microsoft.com/office/powerpoint/2010/main" val="5371606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FDB8D-EF5B-4196-92E5-C997CE0A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固定指纹与可学习图表示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D1D15-BE2A-4A36-9325-B168AC77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图：Wu et al.，MoleculeNet 作者稿 Fig.5，CC BY-NC 3.0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5F769-92EF-44EB-87C3-82CD7893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4D1F1-1002-4E9F-A832-35A29EC9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RF / KRR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77EFC-8684-4C69-A878-0FE62772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552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ECFP4：半径 2，1024 bits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RF：500 棵树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KRR：RBF 核，固定超参数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68D1F-92A9-4026-B87A-91AC17ED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GraphConv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C08BE-AA85-49E4-B7C9-9C10B666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5524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75 维原子特征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图卷积 [128, 128]，稠密层 256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训练 100 epochs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e7eadc20b45ea"/>
          <a:stretch xmlns:a="http://schemas.openxmlformats.org/drawingml/2006/main"/>
        </p:blipFill>
        <p:spPr>
          <a:xfrm xmlns:a="http://schemas.openxmlformats.org/drawingml/2006/main">
            <a:off x="7443834" y="1314450"/>
            <a:ext cx="3200307" cy="48291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1617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D6DA1-222A-4C74-82B3-30623040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随机划分与骨架划分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6A431-19DE-41D4-8C82-C69DA4F9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图：Wu et al.，MoleculeNet 作者稿 Fig.3，CC BY-NC 3.0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AE22C-79AA-48DF-9F50-AE927BC6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2360ad37b475a"/>
          <a:stretch xmlns:a="http://schemas.openxmlformats.org/drawingml/2006/main"/>
        </p:blipFill>
        <p:spPr>
          <a:xfrm xmlns:a="http://schemas.openxmlformats.org/drawingml/2006/main">
            <a:off x="647700" y="1362934"/>
            <a:ext cx="4114800" cy="478935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4CD30-A002-4941-8CEE-2D286E20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002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主实验：random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8C4C0-F48E-4B62-A9FE-04002E38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38375"/>
            <a:ext cx="5810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训练 80%  /  验证 10%  /  测试 10%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三个种子改变样本分配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允许相似骨架跨越分区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A81B1-A828-4BE9-971D-C88A23C6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433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扩展实验：scaffold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DFE9D-CA19-4F8F-8F1E-B4996FD1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581525"/>
            <a:ext cx="5810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仅 ESOL，骨架不跨分区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三个种子的分区相同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用于检查分布外预测的敏感性</a:t>
            </a:r>
          </a:p>
        </p:txBody>
      </p:sp>
    </p:spTree>
    <p:extLst>
      <p:ext uri="{BB962C8B-B14F-4D97-AF65-F5344CB8AC3E}">
        <p14:creationId xmlns:p14="http://schemas.microsoft.com/office/powerpoint/2010/main" val="12805070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AAA73-4999-4A5B-8136-EF6DC4A6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固定协议与原论文差异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BDA49-9D82-4B93-AF63-4B5BA62A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协议：experiment.json；环境：DeepChem 2.8.0 / TensorFlow 2.15.1 / Windows CPU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65575-4309-4FAC-9850-22F41762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4457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8401050"/>
              </a:tblGrid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项目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本次设置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随机种子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123、456、789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GraphConv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[128,128]；dense 256；batch 128；lr 0.0005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训练终点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固定 100 epochs，不按测试集挑选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KRR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RBF；alpha 0.001；gamma 1/1024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标签处理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仅训练集拟合标准化，预测后逆变换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未复刻项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原始划分索引、旧环境、超参数搜索、全部模型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30821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8C420-CB72-4F14-8C96-7E2F37D2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随机划分的测试误差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22EB5-4194-4017-B59E-0EEAD972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本次实验：verification/summary.json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26FF7-A3F7-4563-ADD4-7F116DEC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3124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14600"/>
                <a:gridCol w="2114550"/>
                <a:gridCol w="2114550"/>
                <a:gridCol w="2114550"/>
                <a:gridCol w="2114550"/>
              </a:tblGrid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数据集 / 单位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均值基线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RF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KRR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GraphConv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ESOL</a:t>
                      </a:r>
                    </a:p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log10(mol/L)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2.137 ± 0.016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1.190 ± 0.159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1.485 ± 0.119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1.046 ± 0.106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FreeSolv</a:t>
                      </a:r>
                    </a:p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kcal/mol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3.963 ± 0.473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2.061 ± 0.664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1.999 ± 0.410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2.151 ± 0.232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Lipophilicity</a:t>
                      </a:r>
                    </a:p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logD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1.169 ± 0.014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0.838 ± 0.011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0.835 ± 0.016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0.704 ± 0.016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7230C-1C0C-46E2-9204-E9AA56EB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339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均值 ± 样本标准差，n = 3；RMSE 越低越好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8492E-413D-4F3C-9A71-EC434E18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各数据集单位不同，数值大小不能跨行直接比较</a:t>
            </a:r>
          </a:p>
        </p:txBody>
      </p:sp>
    </p:spTree>
    <p:extLst>
      <p:ext uri="{BB962C8B-B14F-4D97-AF65-F5344CB8AC3E}">
        <p14:creationId xmlns:p14="http://schemas.microsoft.com/office/powerpoint/2010/main" val="6496722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310D9-138A-49AE-905C-08836457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ESOL：本次结果与论文参考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19BBE-9747-4487-B0BF-22A59CD0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论文参考：作者稿 Table 8，p.51；本次：verification/summary.json；协议不完全相同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78E66-5CBC-4FBC-941A-D78032DB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8394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230af28ef144d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E560C-D8E2-40F3-AA07-FDF86F2E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本次 SD：RF 0.159，KRR 0.119，GraphConv 0.106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DD2CA-7C88-4EB2-AC33-F78B5A03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训练均值基线 RMSE：2.137 ± 0.016</a:t>
            </a:r>
          </a:p>
        </p:txBody>
      </p:sp>
    </p:spTree>
    <p:extLst>
      <p:ext uri="{BB962C8B-B14F-4D97-AF65-F5344CB8AC3E}">
        <p14:creationId xmlns:p14="http://schemas.microsoft.com/office/powerpoint/2010/main" val="5205644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E9D89-F519-46E2-A0E2-CA4CE0E6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FreeSolv：本次结果与论文参考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C87C8-C82B-4DBD-81D6-826EF2E0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论文参考：作者稿 Table 8，p.51；本次：verification/summary.json；协议不完全相同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ADFBE-59FF-41A0-828C-AF1D9A1A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8394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5645f59e374cf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81E30-8DE6-43EF-B73E-01C8D4EF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本次 SD：RF 0.664，KRR 0.410，GraphConv 0.232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E6858-3FAA-4D79-896C-EEF2B6A4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训练均值基线 RMSE：3.963 ± 0.473</a:t>
            </a:r>
          </a:p>
        </p:txBody>
      </p:sp>
    </p:spTree>
    <p:extLst>
      <p:ext uri="{BB962C8B-B14F-4D97-AF65-F5344CB8AC3E}">
        <p14:creationId xmlns:p14="http://schemas.microsoft.com/office/powerpoint/2010/main" val="788674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9A82B-5860-4250-97BF-428B1F78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Lipophilicity：本次结果与论文参考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8C223-12CF-4D15-B876-9193940A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论文参考：作者稿 Table 8，p.51；本次：verification/summary.json；协议不完全相同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3CD69-EF7C-4143-AF17-E2C49A58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8394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95972e0f8c4d4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76EC5-11CE-4E23-9F5F-B9EA9946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本次 SD：RF 0.011，KRR 0.016，GraphConv 0.016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6F17F-F86E-4BA9-AD27-83B6CC80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训练均值基线 RMSE：1.169 ± 0.014</a:t>
            </a:r>
          </a:p>
        </p:txBody>
      </p:sp>
    </p:spTree>
    <p:extLst>
      <p:ext uri="{BB962C8B-B14F-4D97-AF65-F5344CB8AC3E}">
        <p14:creationId xmlns:p14="http://schemas.microsoft.com/office/powerpoint/2010/main" val="12675181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B0027-033E-4C72-A46D-AF83A25F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ESOL 骨架划分提高了预测难度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FEA83-B738-4721-B4B8-8DF1073F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额外诊断：同一骨架分区，三个学习器种子；不能当作三折交叉验证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96019-FCF9-4D21-A595-6638A6C1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495425"/>
          <a:ext xmlns:a="http://schemas.openxmlformats.org/drawingml/2006/main" cx="108394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14fc61f7f6495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51177-9FA6-4CCF-A6F7-103284C5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KRR 的骨架测试误差高于均值基线，不能只报告随机划分的成绩</a:t>
            </a:r>
          </a:p>
        </p:txBody>
      </p:sp>
    </p:spTree>
    <p:extLst>
      <p:ext uri="{BB962C8B-B14F-4D97-AF65-F5344CB8AC3E}">
        <p14:creationId xmlns:p14="http://schemas.microsoft.com/office/powerpoint/2010/main" val="14491001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6D7A1-3851-4F60-A918-D48A9549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ESOL 图卷积的验证误差轨迹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F5194-6EA7-4D30-98AD-97E5FA78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本次实验：verification/summary.json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F8460-A4E6-44A3-9E67-76201E21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19125" y="1447800"/>
          <a:ext xmlns:a="http://schemas.openxmlformats.org/drawingml/2006/main" cx="10829925" cy="4133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f16ca1c055437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83D04-3B45-46E1-AEF8-888F234E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62625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统一报告第 100 个 epoch，不使用测试集选择检查点</a:t>
            </a:r>
          </a:p>
        </p:txBody>
      </p:sp>
    </p:spTree>
    <p:extLst>
      <p:ext uri="{BB962C8B-B14F-4D97-AF65-F5344CB8AC3E}">
        <p14:creationId xmlns:p14="http://schemas.microsoft.com/office/powerpoint/2010/main" val="9328013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1D4A1-19A5-4E82-AE61-4F4C909F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结果可追溯到每个分子的预测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03863-DD99-423D-A5D5-8323C053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本次实验：verification/summary.json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A9EE6-42B4-4AD2-8D46-DAC8C04E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14475"/>
          <a:ext xmlns:a="http://schemas.openxmlformats.org/drawingml/2006/main" cx="10972800" cy="40100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7924800"/>
              </a:tblGrid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证据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本次检查结果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完整实验矩阵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48 / 48 个运行，全部存在真实预测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数据与分区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源文件 SHA-256、逐行标签、分区覆盖与交集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指标计算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独立重算 RMSE / MAE / R²，与保存值一致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训练过程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仅训练集标准化；GC 全部完成 100 epochs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ESOL seed 123 重跑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3模型完全一致；RF 最大绝对差 1.78×10⁻¹⁵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D420C-3CA5-44D0-A9FA-1D031190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原始失败日志保留，缺失或异常运行直接判为失败</a:t>
            </a:r>
          </a:p>
        </p:txBody>
      </p:sp>
    </p:spTree>
    <p:extLst>
      <p:ext uri="{BB962C8B-B14F-4D97-AF65-F5344CB8AC3E}">
        <p14:creationId xmlns:p14="http://schemas.microsoft.com/office/powerpoint/2010/main" val="6187367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AB9B0-9B2F-480D-9F4A-38E18E06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Paper2Agent：论文阅读包实测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BC0CC-668C-451D-B79D-6629C6F6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Paper2Agent：固定提交 8c2d059；使用 Paper2Skill，未测试完整 Paper2MCP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03102-85BA-4FE8-BF33-4A1DD307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F8768-9B1C-431F-B758-D6CECB78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37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65 页作者稿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EFCD6-3A14-4136-9648-5C7D278D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572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30 个图像资产，1 个核验后的结果 CSV</a:t>
            </a:r>
          </a:p>
          <a:p xmlns:a="http://schemas.openxmlformats.org/drawingml/2006/main">
            <a:pPr>
              <a:defRPr sz="22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严格验证通过，状态为 reviewed_with_limitations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3952875"/>
          <a:ext xmlns:a="http://schemas.openxmlformats.org/drawingml/2006/main" cx="10858500" cy="2038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09950"/>
                <a:gridCol w="7448550"/>
              </a:tblGrid>
              <a:tr h="5095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保留的限制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处理方式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</a:tr>
              <a:tr h="5095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复杂表格与公式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保留原图，不伪造完整结构化数据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5095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论文与作者稿编号不同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作者稿 Fig.13 对应期刊 Fig.12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5095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Windows 路径检查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一行路径规范化补丁，明确记录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2866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4B813-0B46-4517-B08C-7AD0ADA1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Paper2Any：大纲与结构化路线实测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01834-9A04-453A-BD0C-EFF08730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Paper2Any：固定提交 b538531；真实上游调用，未覆盖多模态Web平台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C747A-B9D6-4F17-B3FF-49DBAF11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6778C-9E11-4E64-AD5D-4D7410A6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10 页大纲，2 次原生流程调用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89399-1B13-4758-8C5E-EEA23577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生成 29.2 秒，修订 14.7 秒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模型：DeepSeek V4.1 Flash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75733-255C-4A83-B8F7-271A1DA3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实际输出章节示例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5B221-A133-4C81-A9D6-545D7367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2. 研究背景与动机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3. 总体设计与核心贡献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4. 数据集与任务层次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EC2CC-D454-430A-8C57-A2B49CC1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703E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BF703E"/>
                </a:solidFill>
                <a:latin typeface="Noto Sans SC"/>
                <a:ea typeface="Noto Sans SC"/>
                <a:cs typeface="Noto Sans SC"/>
              </a:rPr>
              <a:t>结构化导出未通过，保留失败证据，未用默认模板冒充成功</a:t>
            </a:r>
          </a:p>
        </p:txBody>
      </p:sp>
    </p:spTree>
    <p:extLst>
      <p:ext uri="{BB962C8B-B14F-4D97-AF65-F5344CB8AC3E}">
        <p14:creationId xmlns:p14="http://schemas.microsoft.com/office/powerpoint/2010/main" val="4447749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71B39-47D5-4ADB-904A-87F615D2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Pi GUI 的真实执行与文档预览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07115-765F-4A97-8DEA-4B07BC21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本机真实 Pi GUI 截图；验收范围和异常见 gui-test/acceptance.json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277A2-6631-48A6-8A86-98EFAD7B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a90e9ebcf4827"/>
          <a:stretch xmlns:a="http://schemas.openxmlformats.org/drawingml/2006/main"/>
        </p:blipFill>
        <p:spPr>
          <a:xfrm xmlns:a="http://schemas.openxmlformats.org/drawingml/2006/main">
            <a:off x="915637" y="1343025"/>
            <a:ext cx="7046026" cy="4238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48C43-2A40-4E54-A5C9-4408C8D8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525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实际验证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475C3-E13A-437E-B2C4-8D519157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52650"/>
            <a:ext cx="28384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准确模型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技能补全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Enter 发送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运行中任务可见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工具回执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文档预览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29CD4-C94E-400B-924D-A9E7DFC6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F703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BF703E"/>
                </a:solidFill>
                <a:latin typeface="Noto Sans SC"/>
                <a:ea typeface="Noto Sans SC"/>
                <a:cs typeface="Noto Sans SC"/>
              </a:rPr>
              <a:t>长会话状态刷新触发 IPC 递归深度错误，稳定性未通过</a:t>
            </a:r>
          </a:p>
        </p:txBody>
      </p:sp>
    </p:spTree>
    <p:extLst>
      <p:ext uri="{BB962C8B-B14F-4D97-AF65-F5344CB8AC3E}">
        <p14:creationId xmlns:p14="http://schemas.microsoft.com/office/powerpoint/2010/main" val="4913270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99280-BAA8-4667-9CED-C0996783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结论与适用边界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C541A-F6B0-440B-A0E5-AB46DBBF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全部结果、源码、协议与限制说明随交付目录保存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FEB85-768B-4600-9B8F-793D9F7C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D5E38-AFAD-47C6-980A-2A45A2E8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62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实验结论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9B439-FE82-4E96-A1F7-CA0EF035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668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GraphConv 在 ESOL、Lipophilicity 的随机划分中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取得低于本次 RF、KRR 的平均 RMSE。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4594B-9F4C-401C-B688-82F533B4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062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可复核范围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033F4-DCCD-4A3C-A2B3-EA9D9D2E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6680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全量数据、固定协议、逐分子预测和独立指标审计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保留骨架划分负结果与工具运行中的真实失败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02262-A235-4012-896A-4199EF07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F703E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BF703E"/>
                </a:solidFill>
                <a:latin typeface="Noto Sans SC"/>
                <a:ea typeface="Noto Sans SC"/>
                <a:cs typeface="Noto Sans SC"/>
              </a:rPr>
              <a:t>局部现代环境复现，不构成临床有效性证据</a:t>
            </a:r>
          </a:p>
        </p:txBody>
      </p:sp>
    </p:spTree>
    <p:extLst>
      <p:ext uri="{BB962C8B-B14F-4D97-AF65-F5344CB8AC3E}">
        <p14:creationId xmlns:p14="http://schemas.microsoft.com/office/powerpoint/2010/main" val="983697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2026-09-18T14:49:53.7060000Z</dcterms:created>
  <dcterms:modified xsi:type="dcterms:W3CDTF">2026-09-18T14:49:53.7060000Z</dcterms:modified>
</coreProperties>
</file>