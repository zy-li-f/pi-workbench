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2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3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4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5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32b3dd911a64fa8" /><Relationship Type="http://schemas.openxmlformats.org/officeDocument/2006/relationships/extended-properties" Target="/docProps/app.xml" Id="Rb007fc2c88c04e51" /><Relationship Type="http://schemas.openxmlformats.org/officeDocument/2006/relationships/officeDocument" Target="/ppt/presentation.xml" Id="R3506a101375b499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9b00effb91540d0"/>
  </p:sldMasterIdLst>
  <p:notesMasterIdLst>
    <p:notesMasterId xmlns:r="http://schemas.openxmlformats.org/officeDocument/2006/relationships" r:id="Rc088916e60404f92"/>
  </p:notesMasterIdLst>
  <p:sldIdLst>
    <p:sldId xmlns:r="http://schemas.openxmlformats.org/officeDocument/2006/relationships" id="256" r:id="R7452ee19c5014653"/>
    <p:sldId xmlns:r="http://schemas.openxmlformats.org/officeDocument/2006/relationships" id="257" r:id="R9f3371e6045541a6"/>
    <p:sldId xmlns:r="http://schemas.openxmlformats.org/officeDocument/2006/relationships" id="258" r:id="Re9881390173f443f"/>
    <p:sldId xmlns:r="http://schemas.openxmlformats.org/officeDocument/2006/relationships" id="259" r:id="R01431041d75c4c74"/>
    <p:sldId xmlns:r="http://schemas.openxmlformats.org/officeDocument/2006/relationships" id="260" r:id="R7b314c8953e14649"/>
    <p:sldId xmlns:r="http://schemas.openxmlformats.org/officeDocument/2006/relationships" id="261" r:id="R069382141c6348fa"/>
    <p:sldId xmlns:r="http://schemas.openxmlformats.org/officeDocument/2006/relationships" id="262" r:id="Rda240d1d130d4bf1"/>
    <p:sldId xmlns:r="http://schemas.openxmlformats.org/officeDocument/2006/relationships" id="263" r:id="R628b430af0534116"/>
    <p:sldId xmlns:r="http://schemas.openxmlformats.org/officeDocument/2006/relationships" id="264" r:id="R894f342321d7405a"/>
    <p:sldId xmlns:r="http://schemas.openxmlformats.org/officeDocument/2006/relationships" id="265" r:id="R7247fd42d5564d65"/>
    <p:sldId xmlns:r="http://schemas.openxmlformats.org/officeDocument/2006/relationships" id="266" r:id="R0a187a4244864828"/>
    <p:sldId xmlns:r="http://schemas.openxmlformats.org/officeDocument/2006/relationships" id="267" r:id="R583f10e0328a4f89"/>
    <p:sldId xmlns:r="http://schemas.openxmlformats.org/officeDocument/2006/relationships" id="268" r:id="Rd27f06a15f3a49a7"/>
    <p:sldId xmlns:r="http://schemas.openxmlformats.org/officeDocument/2006/relationships" id="269" r:id="Ra9d43d7398e840ce"/>
    <p:sldId xmlns:r="http://schemas.openxmlformats.org/officeDocument/2006/relationships" id="270" r:id="R7d83a711a9fb4315"/>
    <p:sldId xmlns:r="http://schemas.openxmlformats.org/officeDocument/2006/relationships" id="271" r:id="R4f8da0c4bb0e417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9071dd0cb384e95" /><Relationship Type="http://schemas.openxmlformats.org/officeDocument/2006/relationships/slideMaster" Target="/ppt/slideMasters/slideMaster1.xml" Id="Re9b00effb91540d0" /><Relationship Type="http://schemas.openxmlformats.org/officeDocument/2006/relationships/notesMaster" Target="/ppt/notesMasters/notesMaster1.xml" Id="Rc088916e60404f92" /><Relationship Type="http://schemas.openxmlformats.org/officeDocument/2006/relationships/presProps" Target="/ppt/presProps.xml" Id="Rb992f6bdbf4e42fa" /><Relationship Type="http://schemas.openxmlformats.org/officeDocument/2006/relationships/tableStyles" Target="/ppt/tableStyles.xml" Id="R9a8a4fee507e4cad" /><Relationship Type="http://schemas.openxmlformats.org/officeDocument/2006/relationships/slide" Target="/ppt/slides/slide1.xml" Id="R7452ee19c5014653" /><Relationship Type="http://schemas.openxmlformats.org/officeDocument/2006/relationships/slide" Target="/ppt/slides/slide2.xml" Id="R9f3371e6045541a6" /><Relationship Type="http://schemas.openxmlformats.org/officeDocument/2006/relationships/slide" Target="/ppt/slides/slide3.xml" Id="Re9881390173f443f" /><Relationship Type="http://schemas.openxmlformats.org/officeDocument/2006/relationships/slide" Target="/ppt/slides/slide4.xml" Id="R01431041d75c4c74" /><Relationship Type="http://schemas.openxmlformats.org/officeDocument/2006/relationships/slide" Target="/ppt/slides/slide5.xml" Id="R7b314c8953e14649" /><Relationship Type="http://schemas.openxmlformats.org/officeDocument/2006/relationships/slide" Target="/ppt/slides/slide6.xml" Id="R069382141c6348fa" /><Relationship Type="http://schemas.openxmlformats.org/officeDocument/2006/relationships/slide" Target="/ppt/slides/slide7.xml" Id="Rda240d1d130d4bf1" /><Relationship Type="http://schemas.openxmlformats.org/officeDocument/2006/relationships/slide" Target="/ppt/slides/slide8.xml" Id="R628b430af0534116" /><Relationship Type="http://schemas.openxmlformats.org/officeDocument/2006/relationships/slide" Target="/ppt/slides/slide9.xml" Id="R894f342321d7405a" /><Relationship Type="http://schemas.openxmlformats.org/officeDocument/2006/relationships/slide" Target="/ppt/slides/slide10.xml" Id="R7247fd42d5564d65" /><Relationship Type="http://schemas.openxmlformats.org/officeDocument/2006/relationships/slide" Target="/ppt/slides/slide11.xml" Id="R0a187a4244864828" /><Relationship Type="http://schemas.openxmlformats.org/officeDocument/2006/relationships/slide" Target="/ppt/slides/slide12.xml" Id="R583f10e0328a4f89" /><Relationship Type="http://schemas.openxmlformats.org/officeDocument/2006/relationships/slide" Target="/ppt/slides/slide13.xml" Id="Rd27f06a15f3a49a7" /><Relationship Type="http://schemas.openxmlformats.org/officeDocument/2006/relationships/slide" Target="/ppt/slides/slide14.xml" Id="Ra9d43d7398e840ce" /><Relationship Type="http://schemas.openxmlformats.org/officeDocument/2006/relationships/slide" Target="/ppt/slides/slide15.xml" Id="R7d83a711a9fb4315" /><Relationship Type="http://schemas.openxmlformats.org/officeDocument/2006/relationships/slide" Target="/ppt/slides/slide16.xml" Id="R4f8da0c4bb0e417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53f9946bb8243d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20c30dea48e4751" /><Relationship Type="http://schemas.openxmlformats.org/officeDocument/2006/relationships/notesMaster" Target="/ppt/notesMasters/notesMaster1.xml" Id="R14ebf7c385a94e3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7d43ae2385f451a" /><Relationship Type="http://schemas.openxmlformats.org/officeDocument/2006/relationships/notesMaster" Target="/ppt/notesMasters/notesMaster1.xml" Id="Rc4e15be677cd4d3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56e54594ac94755" /><Relationship Type="http://schemas.openxmlformats.org/officeDocument/2006/relationships/notesMaster" Target="/ppt/notesMasters/notesMaster1.xml" Id="Re9f11438b96d4db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a0796ab8e2c4f35" /><Relationship Type="http://schemas.openxmlformats.org/officeDocument/2006/relationships/notesMaster" Target="/ppt/notesMasters/notesMaster1.xml" Id="R6d68bb2ec3f546b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012d92c571343c8" /><Relationship Type="http://schemas.openxmlformats.org/officeDocument/2006/relationships/notesMaster" Target="/ppt/notesMasters/notesMaster1.xml" Id="R6430c88a5f894ad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e10f85066cf48e9" /><Relationship Type="http://schemas.openxmlformats.org/officeDocument/2006/relationships/notesMaster" Target="/ppt/notesMasters/notesMaster1.xml" Id="R211ac550e0ab4b2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bf608b669ee4c4f" /><Relationship Type="http://schemas.openxmlformats.org/officeDocument/2006/relationships/notesMaster" Target="/ppt/notesMasters/notesMaster1.xml" Id="R4f4c8773f0e94c5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fc8f04f7dc844c3" /><Relationship Type="http://schemas.openxmlformats.org/officeDocument/2006/relationships/notesMaster" Target="/ppt/notesMasters/notesMaster1.xml" Id="R42e005186cb1412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de93ab8a53648aa" /><Relationship Type="http://schemas.openxmlformats.org/officeDocument/2006/relationships/notesMaster" Target="/ppt/notesMasters/notesMaster1.xml" Id="R2bade5d0c35d4c4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377630ebc674bf1" /><Relationship Type="http://schemas.openxmlformats.org/officeDocument/2006/relationships/notesMaster" Target="/ppt/notesMasters/notesMaster1.xml" Id="Rbfc4378425b048d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27e69a6cf1e402c" /><Relationship Type="http://schemas.openxmlformats.org/officeDocument/2006/relationships/notesMaster" Target="/ppt/notesMasters/notesMaster1.xml" Id="R2cf54f364b69472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5fbece1ac304af5" /><Relationship Type="http://schemas.openxmlformats.org/officeDocument/2006/relationships/notesMaster" Target="/ppt/notesMasters/notesMaster1.xml" Id="R3006ff6d31fb4cd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54b2ac7290545f3" /><Relationship Type="http://schemas.openxmlformats.org/officeDocument/2006/relationships/notesMaster" Target="/ppt/notesMasters/notesMaster1.xml" Id="Ra30f584876204b8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def6925c0624272" /><Relationship Type="http://schemas.openxmlformats.org/officeDocument/2006/relationships/notesMaster" Target="/ppt/notesMasters/notesMaster1.xml" Id="R2ebf6530a7f0497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d241d3d3b324ec6" /><Relationship Type="http://schemas.openxmlformats.org/officeDocument/2006/relationships/notesMaster" Target="/ppt/notesMasters/notesMaster1.xml" Id="R7c236ac7bf39472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5d57587d5534f61" /><Relationship Type="http://schemas.openxmlformats.org/officeDocument/2006/relationships/notesMaster" Target="/ppt/notesMasters/notesMaster1.xml" Id="R0f2022211f0d4a3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本报告解释 MoleculeNet 的一个可在本机执行的子集。论文提出统一分子机器学习基准，本次选择三个理化性质回归数据集，比较传统指纹模型与图卷积，同时检查 Pi 调用 Paper2Agent 和 Paper2Any 的真实工作过程。48 个运行包括 36 个随机划分实验和 12 个 ESOL 骨架划分扩展。所有实验都是现代环境下的局部复现，不能代表完整论文复现。来源：https://pubmed.ncbi.nlm.nih.gov/29629118/；本地 experiment.json、verification/summary.json。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Wu 等在 Chemical Science 发表 MoleculeNet，DOI 10.1039/C7SC02664A。PubMed 收录 PMID 29629118，在线发表于2017年，卷期属于2018年。RSC 当前期刊指标把 Chemical Science 列为 JCR Q1，分类为 Chemistry, Multidisciplinary，这不是中科院分区声明。本次数据量以实际下载文件为准，均使用全量有效记录。三个任务属于药物研发的理化性质预测，结果不能解释为靶点验证或临床证据。来源：https://pubmed.ncbi.nlm.nih.gov/29629118/；https://www.rsc.org/publishing/journals/journal-metrics；data/*/metadata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本次用 ECFP4 指纹训练 RF 和 KRR。ECFP 的半径是2，向量长度是1024。GraphConv 使用 DeepChem 的 ConvMolFeaturizer，每个原子75维输入特征，两层128维图卷积和256维稠密层。均值基线只使用训练集标签均值，用来判断模型是否学到有效信息。右侧为论文原始表示方式示意图，完整保留；我们没有测试其中的库仑矩阵、网格特征、对称函数和Weave模型。图源：https://arxiv.org/abs/1703.00564v3，p.17，Figure 5；作者署名 Wu et al.，CC BY-NC 3.0。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实验使用随机80/10/10划分，种子123、456、789。不同随机划分可以让同一骨架出现在训练和测试中，所以测试更接近同分布预测。ESOL扩展使用DeepChem确定性骨架划分，三个种子只改变学习器随机性，不产生三个独立测试集。该扩展不是原论文理化性质图的原协议。所有划分都保存了源行索引，并独立检查结构和骨架交集。图源：https://arxiv.org/abs/1703.00564v3，p.13，Figure 3，Wu et al.，CC BY-NC 3.0。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实验配置在运行前保存在experiment.json，后续所有运行校验同一配置哈希。原论文采用超参数优化，本次使用固定DeepChem预设，不做20轮高斯过程搜索。最后100 epoch固定作为GraphConv结果，不根据测试集挑选检查点。目标标准化仅拟合训练集，再逆变换预测到原始单位。使用DeepChem2.8.0、TensorFlow2.15.1和CPU，因此只能描述性能量级与排序，不能把差异全部归因于算法。来源：experiment.json；results*/provenance.json；https://arxiv.org/abs/1703.00564v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表中每个单元格都是三次独立随机划分测试RMSE的均值加样本标准差，标准差分母为n-1。不同数据集使用不同物理单位，不能跨行比较数值大小。每次训练都保留源行、SMILES、预测值和真实值，verify_results.py独立重算全部指标。均值基线只拟合训练标签。下页开始逐数据集对照论文原始结果。来源：verification/summary.csv；verification/runs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OL主实验使用全量1128条数据，随机80/10/10划分。图中比较三个对应学习模型的均值，深绿色是本次固定参数实验，灰紫色是作者稿Table8原始报告。误差条没有画在这张均值图中，精确的标准差列在本页下方及总表。本次未进行原论文的超参数优化，版本和种子也不同，因此图形差距只用于描述，不构成显著性或优越性声明。来源：verification/summary.json；https://arxiv.org/abs/1703.00564v3 Table8 p.51。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eeSolv主实验使用全量642条数据，随机80/10/10划分。图中比较三个对应学习模型的均值，深绿色是本次固定参数实验，灰紫色是作者稿Table8原始报告。误差条没有画在这张均值图中，精确的标准差列在本页下方及总表。本次未进行原论文的超参数优化，版本和种子也不同，因此图形差距只用于描述，不构成显著性或优越性声明。来源：verification/summary.json；https://arxiv.org/abs/1703.00564v3 Table8 p.51。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pophilicity主实验使用全量4200条数据，随机80/10/10划分。图中比较三个对应学习模型的均值，深绿色是本次固定参数实验，灰紫色是作者稿Table8原始报告。误差条没有画在这张均值图中，精确的标准差列在本页下方及总表。本次未进行原论文的超参数优化，版本和种子也不同，因此图形差距只用于描述，不构成显著性或优越性声明。来源：verification/summary.json；https://arxiv.org/abs/1703.00564v3 Table8 p.51。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项额外诊断比较相同模型在随机划分和骨架划分下的误差。骨架划分保持测试骨架不出现在训练中，评估的外推难度更高，但单次确定性划分也改变了标签分布。三个种子不是三个独立骨架划分，不能据此推断泛化分布的置信区间。KRR在该骨架测试集的RMSE高于训练均值基线，是必须报告的负结果。此扩展不属于原论文Fig.12的随机理化性质比较。来源：verification/split-audits.json、results/esol/scaffold/*/split-audit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图中展示三种随机划分的验证集RMSE，每10个epoch记录一次，所有数值都已逆变换为原始单位。最终报告固定使用100 epoch，没有在最低验证误差点早停，也没有看测试集选择模型。验证曲线的波动以及种子差异提醒我们，单次训练不能代表稳定结论。这里没有把不同单位的三个数据集绘在同一纵轴上。来源：results/esol/random/{123,456,789}/gc/learning-curve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验收脚本没有导入训练脚本，也没有调用其指标函数，而是用Python标准库从每个预测CSV重算RMSE、MAE和R²，再匹配原始下载文件中的标签和SMILES。它检查源行完整覆盖且分区不交叉、标准化只拟合训练集、预测有限、GraphConv完成100 epoch。重复性测试比较首次预实验与主实验相同ESOL种子的完整预测文件。所有数值校验属于这批固定文件，不能替代独立外部数据验证。来源：verify_results.py、verification/runs.json、verification/summary.json。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本次使用jmiao24/Paper2Agent仓库中的Paper2Skill分支，不运行多代理Paper2MCP工作流。主代理预先审阅65页作者稿，Pi在GUI内真实执行prepare、extract、reuse-review、build和strict verify，把审查依据和限制带入新包。复杂表格采用原图，核心Table8逐行转录并核验。上游Windows路径检查把反斜杠与正斜杠清单比较，导致合法文件报Unexpected；临时副本将relative path改为as_posix，一行兼容补丁后严格校验通过。不是未经修改的全流程通过声明。来源：https://github.com/jmiao24/Paper2Agent commit8c2d059165ef8cdcb70dbea76655b9c2b55b38e6；gui-test/paper2agent/moleculenet-review/verification.json。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这里测试OpenDCAI/Paper2Any固定提交中的两个原生文本组件，outline_agent和outline_refine_agent，都使用simple mode、DeepSeek deepseek-flash真实API调用。没有启动自主子代理。输入是Paper2Agent转出的正文及独立核验结果，输出10页结构化大纲，再根据明确反馈修订。校验确认页数、必需字段、无虚构图片引用且修订不是原样返回。我们额外审查科学内容。进一步测试原生结构化幻灯片服务和导出路线：状态failed，处理10页，原生导出完成false。默认模板、API失败或输出截断都不能当作成功。未覆盖MinerU、图片生成、SAM、完整Web平台。本说明稿由独立制版脚本据真实结果制作，不冒充上游PPT导出。上游两处明文密钥日志已在测试副本脱敏。来源：https://github.com/OpenDCAI/Paper2Any commitb538531e25798d9b9d41afd5fa93c9222949b5a5；gui-test/paper2any/result.json和frontend/result.json。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页截图来自本机Electron窗口，使用隔离测试目录，没有模拟API回包。确认准确模型后，通过技能快捷补全和Enter发送自然语言任务，Pi真实调用上游脚本并写入文件。首轮因测试配置采用旧环境变量语法出现401，修正为新版插值后GUI连接测试通过，同一会话重试。运行中左侧可见任务。右侧报告预览和文件切换以acceptance.json记录为准。出现的缺陷和未测功能不应被截图掩盖。来源：gui-test/acceptance.json；gui-test/evidence；对应Pi JSONL会话。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论来自这批保存并核验的真实实验。GraphConv在ESOL、Lipophilicity上的随机测试均值优于本次RF和KRR。这与论文强调可学习表示的方向相符，但不证明所有场景图模型都优越。骨架划分负结果和协议差异都保留。两个工具分别帮助建立可检索证据包和生成说明大纲，数字仍依赖实际训练与独立审计。本次没有覆盖全部17个数据集、所有算法、原始环境或完整多模态平台，因此应称为有明确范围的现代环境复现与组件验收。研究性质结果，不用于临床或患者决策。来源：verification/summary.json；两个上游仓库与验收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eba56e20e849f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8123cc055bf4f35" /><Relationship Type="http://schemas.openxmlformats.org/officeDocument/2006/relationships/slideLayout" Target="/ppt/slideLayouts/slideLayout1.xml" Id="Rf7ab751bcffd484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7ab751bcffd484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59be52ef1c4ad8" /><Relationship Type="http://schemas.openxmlformats.org/officeDocument/2006/relationships/notesSlide" Target="/ppt/notesSlides/notesSlide1.xml" Id="R31b9b94ed58c47d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0ca2bb9bc840b4" /><Relationship Type="http://schemas.openxmlformats.org/officeDocument/2006/relationships/notesSlide" Target="/ppt/notesSlides/notesSlide2.xml" Id="R7b4d81f9c807450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231d78b90a4a3f" /><Relationship Type="http://schemas.openxmlformats.org/officeDocument/2006/relationships/image" Target="/ppt/media/image.jpeg" Id="Red7ea13d551b4f96" /><Relationship Type="http://schemas.openxmlformats.org/officeDocument/2006/relationships/notesSlide" Target="/ppt/notesSlides/notesSlide3.xml" Id="Re4b22363d78a4d6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2a87f514814a13" /><Relationship Type="http://schemas.openxmlformats.org/officeDocument/2006/relationships/image" Target="/ppt/media/image2.jpeg" Id="Ra44a4df1607a4859" /><Relationship Type="http://schemas.openxmlformats.org/officeDocument/2006/relationships/notesSlide" Target="/ppt/notesSlides/notesSlide4.xml" Id="Rf4d9c494b7644d8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56906507e2477b" /><Relationship Type="http://schemas.openxmlformats.org/officeDocument/2006/relationships/notesSlide" Target="/ppt/notesSlides/notesSlide5.xml" Id="Rcbdf2fe9c79646d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f6918c9b0c441b" /><Relationship Type="http://schemas.openxmlformats.org/officeDocument/2006/relationships/notesSlide" Target="/ppt/notesSlides/notesSlide6.xml" Id="Re9672b3e7ca54da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ba5e2141f04d8b" /><Relationship Type="http://schemas.openxmlformats.org/officeDocument/2006/relationships/chart" Target="/ppt/slides/charts/chart1.xml" Id="Ra43e8de972d14165" /><Relationship Type="http://schemas.openxmlformats.org/officeDocument/2006/relationships/notesSlide" Target="/ppt/notesSlides/notesSlide7.xml" Id="R7315595137204a1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d70f8821064e7e" /><Relationship Type="http://schemas.openxmlformats.org/officeDocument/2006/relationships/chart" Target="/ppt/slides/charts/chart2.xml" Id="Rd9bcccb751714a49" /><Relationship Type="http://schemas.openxmlformats.org/officeDocument/2006/relationships/notesSlide" Target="/ppt/notesSlides/notesSlide8.xml" Id="Rf1c6fa51acab44d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5c5f394c80488c" /><Relationship Type="http://schemas.openxmlformats.org/officeDocument/2006/relationships/chart" Target="/ppt/slides/charts/chart3.xml" Id="R83a6e1fedb1e45bd" /><Relationship Type="http://schemas.openxmlformats.org/officeDocument/2006/relationships/notesSlide" Target="/ppt/notesSlides/notesSlide9.xml" Id="R37acbcd165b543c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2c003207b346cd" /><Relationship Type="http://schemas.openxmlformats.org/officeDocument/2006/relationships/chart" Target="/ppt/slides/charts/chart4.xml" Id="R0063a14712204553" /><Relationship Type="http://schemas.openxmlformats.org/officeDocument/2006/relationships/notesSlide" Target="/ppt/notesSlides/notesSlide10.xml" Id="R4217dba9c6394a8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fdf197abdc44c7" /><Relationship Type="http://schemas.openxmlformats.org/officeDocument/2006/relationships/chart" Target="/ppt/slides/charts/chart5.xml" Id="R3d4a7bebf679429c" /><Relationship Type="http://schemas.openxmlformats.org/officeDocument/2006/relationships/notesSlide" Target="/ppt/notesSlides/notesSlide11.xml" Id="Rbc3e1a620986428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970b016cd54781" /><Relationship Type="http://schemas.openxmlformats.org/officeDocument/2006/relationships/notesSlide" Target="/ppt/notesSlides/notesSlide12.xml" Id="Re99d8818e4d34db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55541ff06b44f8" /><Relationship Type="http://schemas.openxmlformats.org/officeDocument/2006/relationships/notesSlide" Target="/ppt/notesSlides/notesSlide13.xml" Id="R2b14f7cc6fe249b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735bc477c647c6" /><Relationship Type="http://schemas.openxmlformats.org/officeDocument/2006/relationships/notesSlide" Target="/ppt/notesSlides/notesSlide14.xml" Id="R21936de2c0df4fb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d2a03796f64115" /><Relationship Type="http://schemas.openxmlformats.org/officeDocument/2006/relationships/image" Target="/ppt/media/image3.jpeg" Id="Raf3aa28b29c9424f" /><Relationship Type="http://schemas.openxmlformats.org/officeDocument/2006/relationships/notesSlide" Target="/ppt/notesSlides/notesSlide15.xml" Id="R520c3e05e100409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a825f060ca4414" /><Relationship Type="http://schemas.openxmlformats.org/officeDocument/2006/relationships/notesSlide" Target="/ppt/notesSlides/notesSlide16.xml" Id="R5cc1b278f2fb403b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本次复现</c:v>
          </c:tx>
          <c:spPr>
            <a:solidFill xmlns:a="http://schemas.openxmlformats.org/drawingml/2006/main">
              <a:srgbClr val="12776F"/>
            </a:solidFill>
          </c:spPr>
          <c:cat>
            <c:strRef>
              <c:f>'Chart Data'!$A$2:$A$4</c:f>
              <c:strCache>
                <c:ptCount val="3"/>
                <c:pt idx="0">
                  <c:v>RF</c:v>
                </c:pt>
                <c:pt idx="1">
                  <c:v>KRR</c:v>
                </c:pt>
                <c:pt idx="2">
                  <c:v>GraphConv</c:v>
                </c:pt>
              </c:strCache>
            </c:strRef>
          </c:cat>
          <c:val>
            <c:numRef>
              <c:f>'Chart Data'!$B$2:$B$4</c:f>
              <c:numCache>
                <c:formatCode>0.000</c:formatCode>
                <c:ptCount val="3"/>
                <c:pt idx="0">
                  <c:v>1.18956710186</c:v>
                </c:pt>
                <c:pt idx="1">
                  <c:v>1.48467915922</c:v>
                </c:pt>
                <c:pt idx="2">
                  <c:v>1.04629004051</c:v>
                </c:pt>
              </c:numCache>
            </c:numRef>
          </c:val>
        </c:ser>
        <c:ser>
          <c:idx val="1"/>
          <c:order val="1"/>
          <c:tx>
            <c:v>论文原始</c:v>
          </c:tx>
          <c:spPr>
            <a:solidFill xmlns:a="http://schemas.openxmlformats.org/drawingml/2006/main">
              <a:srgbClr val="817BAA"/>
            </a:solidFill>
          </c:spPr>
          <c:cat>
            <c:strRef>
              <c:f>'Chart Data'!$C$2:$C$4</c:f>
              <c:strCache>
                <c:ptCount val="3"/>
                <c:pt idx="0">
                  <c:v>RF</c:v>
                </c:pt>
                <c:pt idx="1">
                  <c:v>KRR</c:v>
                </c:pt>
                <c:pt idx="2">
                  <c:v>GraphConv</c:v>
                </c:pt>
              </c:strCache>
            </c:strRef>
          </c:cat>
          <c:val>
            <c:numRef>
              <c:f>'Chart Data'!$D$2:$D$4</c:f>
              <c:numCache>
                <c:formatCode>0.000</c:formatCode>
                <c:ptCount val="3"/>
                <c:pt idx="0">
                  <c:v>1.07</c:v>
                </c:pt>
                <c:pt idx="1">
                  <c:v>1.53</c:v>
                </c:pt>
                <c:pt idx="2">
                  <c:v>0.97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72D35"/>
                  </a:solidFill>
                  <a:latin typeface="Noto Sans SC"/>
                  <a:ea typeface="Noto Sans SC"/>
                  <a:cs typeface="Noto Sans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6DFD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D6DFD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58696D"/>
                    </a:solidFill>
                    <a:latin typeface="Noto Sans SC"/>
                    <a:ea typeface="Noto Sans SC"/>
                    <a:cs typeface="Noto Sans SC"/>
                  </a:rPr>
                  <a:t>测试 RMSE (log10(mol/L))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8696D"/>
                  </a:solidFill>
                  <a:latin typeface="Noto Sans SC"/>
                  <a:ea typeface="Noto Sans SC"/>
                  <a:cs typeface="Noto Sans SC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6F4EE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72D35"/>
              </a:solidFill>
              <a:latin typeface="Noto Sans SC"/>
              <a:ea typeface="Noto Sans SC"/>
              <a:cs typeface="Noto Sans SC"/>
            </a:defRPr>
          </a:pPr>
        </a:p>
      </c:txPr>
    </c:legend>
    <c:plotVisOnly val="1"/>
  </c:chart>
  <c:spPr>
    <a:solidFill xmlns:a="http://schemas.openxmlformats.org/drawingml/2006/main">
      <a:srgbClr val="F6F4EE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本次复现</c:v>
          </c:tx>
          <c:spPr>
            <a:solidFill xmlns:a="http://schemas.openxmlformats.org/drawingml/2006/main">
              <a:srgbClr val="12776F"/>
            </a:solidFill>
          </c:spPr>
          <c:cat>
            <c:strRef>
              <c:f>'Chart Data'!$A$2:$A$4</c:f>
              <c:strCache>
                <c:ptCount val="3"/>
                <c:pt idx="0">
                  <c:v>RF</c:v>
                </c:pt>
                <c:pt idx="1">
                  <c:v>KRR</c:v>
                </c:pt>
                <c:pt idx="2">
                  <c:v>GraphConv</c:v>
                </c:pt>
              </c:strCache>
            </c:strRef>
          </c:cat>
          <c:val>
            <c:numRef>
              <c:f>'Chart Data'!$B$2:$B$4</c:f>
              <c:numCache>
                <c:formatCode>0.000</c:formatCode>
                <c:ptCount val="3"/>
                <c:pt idx="0">
                  <c:v>2.06130160569</c:v>
                </c:pt>
                <c:pt idx="1">
                  <c:v>1.99888154466</c:v>
                </c:pt>
                <c:pt idx="2">
                  <c:v>2.15118478517</c:v>
                </c:pt>
              </c:numCache>
            </c:numRef>
          </c:val>
        </c:ser>
        <c:ser>
          <c:idx val="1"/>
          <c:order val="1"/>
          <c:tx>
            <c:v>论文原始</c:v>
          </c:tx>
          <c:spPr>
            <a:solidFill xmlns:a="http://schemas.openxmlformats.org/drawingml/2006/main">
              <a:srgbClr val="817BAA"/>
            </a:solidFill>
          </c:spPr>
          <c:cat>
            <c:strRef>
              <c:f>'Chart Data'!$C$2:$C$4</c:f>
              <c:strCache>
                <c:ptCount val="3"/>
                <c:pt idx="0">
                  <c:v>RF</c:v>
                </c:pt>
                <c:pt idx="1">
                  <c:v>KRR</c:v>
                </c:pt>
                <c:pt idx="2">
                  <c:v>GraphConv</c:v>
                </c:pt>
              </c:strCache>
            </c:strRef>
          </c:cat>
          <c:val>
            <c:numRef>
              <c:f>'Chart Data'!$D$2:$D$4</c:f>
              <c:numCache>
                <c:formatCode>0.000</c:formatCode>
                <c:ptCount val="3"/>
                <c:pt idx="0">
                  <c:v>2.03</c:v>
                </c:pt>
                <c:pt idx="1">
                  <c:v>2.11</c:v>
                </c:pt>
                <c:pt idx="2">
                  <c:v>1.4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72D35"/>
                  </a:solidFill>
                  <a:latin typeface="Noto Sans SC"/>
                  <a:ea typeface="Noto Sans SC"/>
                  <a:cs typeface="Noto Sans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6DFD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D6DFD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58696D"/>
                    </a:solidFill>
                    <a:latin typeface="Noto Sans SC"/>
                    <a:ea typeface="Noto Sans SC"/>
                    <a:cs typeface="Noto Sans SC"/>
                  </a:rPr>
                  <a:t>测试 RMSE (kcal/mol)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8696D"/>
                  </a:solidFill>
                  <a:latin typeface="Noto Sans SC"/>
                  <a:ea typeface="Noto Sans SC"/>
                  <a:cs typeface="Noto Sans SC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6F4EE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72D35"/>
              </a:solidFill>
              <a:latin typeface="Noto Sans SC"/>
              <a:ea typeface="Noto Sans SC"/>
              <a:cs typeface="Noto Sans SC"/>
            </a:defRPr>
          </a:pPr>
        </a:p>
      </c:txPr>
    </c:legend>
    <c:plotVisOnly val="1"/>
  </c:chart>
  <c:spPr>
    <a:solidFill xmlns:a="http://schemas.openxmlformats.org/drawingml/2006/main">
      <a:srgbClr val="F6F4EE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本次复现</c:v>
          </c:tx>
          <c:spPr>
            <a:solidFill xmlns:a="http://schemas.openxmlformats.org/drawingml/2006/main">
              <a:srgbClr val="12776F"/>
            </a:solidFill>
          </c:spPr>
          <c:cat>
            <c:strRef>
              <c:f>'Chart Data'!$A$2:$A$4</c:f>
              <c:strCache>
                <c:ptCount val="3"/>
                <c:pt idx="0">
                  <c:v>RF</c:v>
                </c:pt>
                <c:pt idx="1">
                  <c:v>KRR</c:v>
                </c:pt>
                <c:pt idx="2">
                  <c:v>GraphConv</c:v>
                </c:pt>
              </c:strCache>
            </c:strRef>
          </c:cat>
          <c:val>
            <c:numRef>
              <c:f>'Chart Data'!$B$2:$B$4</c:f>
              <c:numCache>
                <c:formatCode>0.000</c:formatCode>
                <c:ptCount val="3"/>
                <c:pt idx="0">
                  <c:v>0.838405701292</c:v>
                </c:pt>
                <c:pt idx="1">
                  <c:v>0.835383692489</c:v>
                </c:pt>
                <c:pt idx="2">
                  <c:v>0.704098892239</c:v>
                </c:pt>
              </c:numCache>
            </c:numRef>
          </c:val>
        </c:ser>
        <c:ser>
          <c:idx val="1"/>
          <c:order val="1"/>
          <c:tx>
            <c:v>论文原始</c:v>
          </c:tx>
          <c:spPr>
            <a:solidFill xmlns:a="http://schemas.openxmlformats.org/drawingml/2006/main">
              <a:srgbClr val="817BAA"/>
            </a:solidFill>
          </c:spPr>
          <c:cat>
            <c:strRef>
              <c:f>'Chart Data'!$C$2:$C$4</c:f>
              <c:strCache>
                <c:ptCount val="3"/>
                <c:pt idx="0">
                  <c:v>RF</c:v>
                </c:pt>
                <c:pt idx="1">
                  <c:v>KRR</c:v>
                </c:pt>
                <c:pt idx="2">
                  <c:v>GraphConv</c:v>
                </c:pt>
              </c:strCache>
            </c:strRef>
          </c:cat>
          <c:val>
            <c:numRef>
              <c:f>'Chart Data'!$D$2:$D$4</c:f>
              <c:numCache>
                <c:formatCode>0.000</c:formatCode>
                <c:ptCount val="3"/>
                <c:pt idx="0">
                  <c:v>0.876</c:v>
                </c:pt>
                <c:pt idx="1">
                  <c:v>0.899</c:v>
                </c:pt>
                <c:pt idx="2">
                  <c:v>0.655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72D35"/>
                  </a:solidFill>
                  <a:latin typeface="Noto Sans SC"/>
                  <a:ea typeface="Noto Sans SC"/>
                  <a:cs typeface="Noto Sans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6DFD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D6DFD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58696D"/>
                    </a:solidFill>
                    <a:latin typeface="Noto Sans SC"/>
                    <a:ea typeface="Noto Sans SC"/>
                    <a:cs typeface="Noto Sans SC"/>
                  </a:rPr>
                  <a:t>测试 RMSE (logD)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8696D"/>
                  </a:solidFill>
                  <a:latin typeface="Noto Sans SC"/>
                  <a:ea typeface="Noto Sans SC"/>
                  <a:cs typeface="Noto Sans SC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6F4EE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72D35"/>
              </a:solidFill>
              <a:latin typeface="Noto Sans SC"/>
              <a:ea typeface="Noto Sans SC"/>
              <a:cs typeface="Noto Sans SC"/>
            </a:defRPr>
          </a:pPr>
        </a:p>
      </c:txPr>
    </c:legend>
    <c:plotVisOnly val="1"/>
  </c:chart>
  <c:spPr>
    <a:solidFill xmlns:a="http://schemas.openxmlformats.org/drawingml/2006/main">
      <a:srgbClr val="F6F4EE"/>
    </a:solidFill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Random</c:v>
          </c:tx>
          <c:spPr>
            <a:solidFill xmlns:a="http://schemas.openxmlformats.org/drawingml/2006/main">
              <a:srgbClr val="12776F"/>
            </a:solidFill>
          </c:spPr>
          <c:cat>
            <c:strRef>
              <c:f>'Chart Data'!$A$2:$A$5</c:f>
              <c:strCache>
                <c:ptCount val="4"/>
                <c:pt idx="0">
                  <c:v>均值基线</c:v>
                </c:pt>
                <c:pt idx="1">
                  <c:v>RF</c:v>
                </c:pt>
                <c:pt idx="2">
                  <c:v>KRR</c:v>
                </c:pt>
                <c:pt idx="3">
                  <c:v>GraphConv</c:v>
                </c:pt>
              </c:strCache>
            </c:strRef>
          </c:cat>
          <c:val>
            <c:numRef>
              <c:f>'Chart Data'!$B$2:$B$5</c:f>
              <c:numCache>
                <c:formatCode>0.000</c:formatCode>
                <c:ptCount val="4"/>
                <c:pt idx="0">
                  <c:v>2.13736758674</c:v>
                </c:pt>
                <c:pt idx="1">
                  <c:v>1.18956710186</c:v>
                </c:pt>
                <c:pt idx="2">
                  <c:v>1.48467915922</c:v>
                </c:pt>
                <c:pt idx="3">
                  <c:v>1.04629004051</c:v>
                </c:pt>
              </c:numCache>
            </c:numRef>
          </c:val>
        </c:ser>
        <c:ser>
          <c:idx val="1"/>
          <c:order val="1"/>
          <c:tx>
            <c:v>Scaffold</c:v>
          </c:tx>
          <c:spPr>
            <a:solidFill xmlns:a="http://schemas.openxmlformats.org/drawingml/2006/main">
              <a:srgbClr val="BF703E"/>
            </a:solidFill>
          </c:spPr>
          <c:cat>
            <c:strRef>
              <c:f>'Chart Data'!$C$2:$C$5</c:f>
              <c:strCache>
                <c:ptCount val="4"/>
                <c:pt idx="0">
                  <c:v>均值基线</c:v>
                </c:pt>
                <c:pt idx="1">
                  <c:v>RF</c:v>
                </c:pt>
                <c:pt idx="2">
                  <c:v>KRR</c:v>
                </c:pt>
                <c:pt idx="3">
                  <c:v>GraphConv</c:v>
                </c:pt>
              </c:strCache>
            </c:strRef>
          </c:cat>
          <c:val>
            <c:numRef>
              <c:f>'Chart Data'!$D$2:$D$5</c:f>
              <c:numCache>
                <c:formatCode>0.000</c:formatCode>
                <c:ptCount val="4"/>
                <c:pt idx="0">
                  <c:v>2.31497289567</c:v>
                </c:pt>
                <c:pt idx="1">
                  <c:v>1.69130503996</c:v>
                </c:pt>
                <c:pt idx="2">
                  <c:v>2.47233263232</c:v>
                </c:pt>
                <c:pt idx="3">
                  <c:v>1.36998991834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72D35"/>
                  </a:solidFill>
                  <a:latin typeface="Noto Sans SC"/>
                  <a:ea typeface="Noto Sans SC"/>
                  <a:cs typeface="Noto Sans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6DFD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D6DFD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58696D"/>
                    </a:solidFill>
                    <a:latin typeface="Noto Sans SC"/>
                    <a:ea typeface="Noto Sans SC"/>
                    <a:cs typeface="Noto Sans SC"/>
                  </a:rPr>
                  <a:t>测试 RMSE (log₁₀(mol/L))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8696D"/>
                  </a:solidFill>
                  <a:latin typeface="Noto Sans SC"/>
                  <a:ea typeface="Noto Sans SC"/>
                  <a:cs typeface="Noto Sans SC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6F4EE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72D35"/>
              </a:solidFill>
              <a:latin typeface="Noto Sans SC"/>
              <a:ea typeface="Noto Sans SC"/>
              <a:cs typeface="Noto Sans SC"/>
            </a:defRPr>
          </a:pPr>
        </a:p>
      </c:txPr>
    </c:legend>
    <c:plotVisOnly val="1"/>
  </c:chart>
  <c:spPr>
    <a:solidFill xmlns:a="http://schemas.openxmlformats.org/drawingml/2006/main">
      <a:srgbClr val="F6F4EE"/>
    </a:solidFill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ser>
          <c:idx val="0"/>
          <c:order val="0"/>
          <c:tx>
            <c:v>seed 123</c:v>
          </c:tx>
          <c:spPr>
            <a:ln xmlns:a="http://schemas.openxmlformats.org/drawingml/2006/main" w="28575">
              <a:solidFill>
                <a:srgbClr val="12776F"/>
              </a:solidFill>
            </a:ln>
          </c:spPr>
          <c:marker>
            <c:symbol val="circle"/>
            <c:size val="6"/>
            <c:spPr>
              <a:solidFill xmlns:a="http://schemas.openxmlformats.org/drawingml/2006/main">
                <a:srgbClr val="12776F"/>
              </a:solidFill>
            </c:spPr>
          </c:marker>
          <c:cat>
            <c:numRef>
              <c:f>'Chart Data'!$A$2:$A$11</c:f>
              <c:numCache>
                <c:formatCode>General</c:formatCode>
                <c:ptCount val="10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50</c:v>
                </c:pt>
                <c:pt idx="5">
                  <c:v>60</c:v>
                </c:pt>
                <c:pt idx="6">
                  <c:v>70</c:v>
                </c:pt>
                <c:pt idx="7">
                  <c:v>80</c:v>
                </c:pt>
                <c:pt idx="8">
                  <c:v>90</c:v>
                </c:pt>
                <c:pt idx="9">
                  <c:v>100</c:v>
                </c:pt>
              </c:numCache>
            </c:numRef>
          </c:cat>
          <c:val>
            <c:numRef>
              <c:f>'Chart Data'!$B$2:$B$11</c:f>
              <c:numCache>
                <c:formatCode>0.000</c:formatCode>
                <c:ptCount val="10"/>
                <c:pt idx="0">
                  <c:v>1.69019476332</c:v>
                </c:pt>
                <c:pt idx="1">
                  <c:v>1.46074320837</c:v>
                </c:pt>
                <c:pt idx="2">
                  <c:v>1.42869325724</c:v>
                </c:pt>
                <c:pt idx="3">
                  <c:v>1.25500990082</c:v>
                </c:pt>
                <c:pt idx="4">
                  <c:v>1.18509097932</c:v>
                </c:pt>
                <c:pt idx="5">
                  <c:v>1.11638010775</c:v>
                </c:pt>
                <c:pt idx="6">
                  <c:v>1.05879517915</c:v>
                </c:pt>
                <c:pt idx="7">
                  <c:v>1.07663865439</c:v>
                </c:pt>
                <c:pt idx="8">
                  <c:v>1.08468356529</c:v>
                </c:pt>
                <c:pt idx="9">
                  <c:v>1.004742501</c:v>
                </c:pt>
              </c:numCache>
            </c:numRef>
          </c:val>
        </c:ser>
        <c:ser>
          <c:idx val="1"/>
          <c:order val="1"/>
          <c:tx>
            <c:v>seed 456</c:v>
          </c:tx>
          <c:spPr>
            <a:ln xmlns:a="http://schemas.openxmlformats.org/drawingml/2006/main" w="28575">
              <a:solidFill>
                <a:srgbClr val="817BAA"/>
              </a:solidFill>
            </a:ln>
          </c:spPr>
          <c:marker>
            <c:symbol val="circle"/>
            <c:size val="6"/>
            <c:spPr>
              <a:solidFill xmlns:a="http://schemas.openxmlformats.org/drawingml/2006/main">
                <a:srgbClr val="817BAA"/>
              </a:solidFill>
            </c:spPr>
          </c:marker>
          <c:cat>
            <c:numRef>
              <c:f>'Chart Data'!$C$2:$C$11</c:f>
              <c:numCache>
                <c:formatCode>General</c:formatCode>
                <c:ptCount val="10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50</c:v>
                </c:pt>
                <c:pt idx="5">
                  <c:v>60</c:v>
                </c:pt>
                <c:pt idx="6">
                  <c:v>70</c:v>
                </c:pt>
                <c:pt idx="7">
                  <c:v>80</c:v>
                </c:pt>
                <c:pt idx="8">
                  <c:v>90</c:v>
                </c:pt>
                <c:pt idx="9">
                  <c:v>100</c:v>
                </c:pt>
              </c:numCache>
            </c:numRef>
          </c:cat>
          <c:val>
            <c:numRef>
              <c:f>'Chart Data'!$D$2:$D$11</c:f>
              <c:numCache>
                <c:formatCode>0.000</c:formatCode>
                <c:ptCount val="10"/>
                <c:pt idx="0">
                  <c:v>1.65983383969</c:v>
                </c:pt>
                <c:pt idx="1">
                  <c:v>1.5088467901</c:v>
                </c:pt>
                <c:pt idx="2">
                  <c:v>1.43151131992</c:v>
                </c:pt>
                <c:pt idx="3">
                  <c:v>1.34543834786</c:v>
                </c:pt>
                <c:pt idx="4">
                  <c:v>1.2442403053</c:v>
                </c:pt>
                <c:pt idx="5">
                  <c:v>1.19449659073</c:v>
                </c:pt>
                <c:pt idx="6">
                  <c:v>1.13855132883</c:v>
                </c:pt>
                <c:pt idx="7">
                  <c:v>1.16910439013</c:v>
                </c:pt>
                <c:pt idx="8">
                  <c:v>1.1595606466</c:v>
                </c:pt>
                <c:pt idx="9">
                  <c:v>1.11689581157</c:v>
                </c:pt>
              </c:numCache>
            </c:numRef>
          </c:val>
        </c:ser>
        <c:ser>
          <c:idx val="2"/>
          <c:order val="2"/>
          <c:tx>
            <c:v>seed 789</c:v>
          </c:tx>
          <c:spPr>
            <a:ln xmlns:a="http://schemas.openxmlformats.org/drawingml/2006/main" w="28575">
              <a:solidFill>
                <a:srgbClr val="BF703E"/>
              </a:solidFill>
            </a:ln>
          </c:spPr>
          <c:marker>
            <c:symbol val="circle"/>
            <c:size val="6"/>
            <c:spPr>
              <a:solidFill xmlns:a="http://schemas.openxmlformats.org/drawingml/2006/main">
                <a:srgbClr val="BF703E"/>
              </a:solidFill>
            </c:spPr>
          </c:marker>
          <c:cat>
            <c:numRef>
              <c:f>'Chart Data'!$E$2:$E$11</c:f>
              <c:numCache>
                <c:formatCode>General</c:formatCode>
                <c:ptCount val="10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50</c:v>
                </c:pt>
                <c:pt idx="5">
                  <c:v>60</c:v>
                </c:pt>
                <c:pt idx="6">
                  <c:v>70</c:v>
                </c:pt>
                <c:pt idx="7">
                  <c:v>80</c:v>
                </c:pt>
                <c:pt idx="8">
                  <c:v>90</c:v>
                </c:pt>
                <c:pt idx="9">
                  <c:v>100</c:v>
                </c:pt>
              </c:numCache>
            </c:numRef>
          </c:cat>
          <c:val>
            <c:numRef>
              <c:f>'Chart Data'!$F$2:$F$11</c:f>
              <c:numCache>
                <c:formatCode>0.000</c:formatCode>
                <c:ptCount val="10"/>
                <c:pt idx="0">
                  <c:v>1.65118654336</c:v>
                </c:pt>
                <c:pt idx="1">
                  <c:v>1.50554723492</c:v>
                </c:pt>
                <c:pt idx="2">
                  <c:v>1.46492814422</c:v>
                </c:pt>
                <c:pt idx="3">
                  <c:v>1.41689392513</c:v>
                </c:pt>
                <c:pt idx="4">
                  <c:v>1.28933400891</c:v>
                </c:pt>
                <c:pt idx="5">
                  <c:v>1.1543539421</c:v>
                </c:pt>
                <c:pt idx="6">
                  <c:v>1.16240684411</c:v>
                </c:pt>
                <c:pt idx="7">
                  <c:v>1.11540615762</c:v>
                </c:pt>
                <c:pt idx="8">
                  <c:v>1.08453452353</c:v>
                </c:pt>
                <c:pt idx="9">
                  <c:v>1.00143075016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SC"/>
                  <a:ea typeface="Noto Sans SC"/>
                  <a:cs typeface="Noto Sans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latin typeface="Noto Sans SC"/>
                    <a:ea typeface="Noto Sans SC"/>
                    <a:cs typeface="Noto Sans SC"/>
                  </a:rPr>
                  <a:t>训练 epoch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latin typeface="Noto Sans SC"/>
                  <a:ea typeface="Noto Sans SC"/>
                  <a:cs typeface="Noto Sans SC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6668">
              <a:solidFill>
                <a:srgbClr val="D6DFD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latin typeface="Noto Sans SC"/>
                    <a:ea typeface="Noto Sans SC"/>
                    <a:cs typeface="Noto Sans SC"/>
                  </a:rPr>
                  <a:t>验证 RMSE (log₁₀(mol/L))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latin typeface="Noto Sans SC"/>
                  <a:ea typeface="Noto Sans SC"/>
                  <a:cs typeface="Noto Sans SC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6F4EE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72D35"/>
              </a:solidFill>
              <a:latin typeface="Noto Sans SC"/>
              <a:ea typeface="Noto Sans SC"/>
              <a:cs typeface="Noto Sans SC"/>
            </a:defRPr>
          </a:pPr>
        </a:p>
      </c:txPr>
    </c:legend>
    <c:plotVisOnly val="1"/>
  </c:chart>
  <c:spPr>
    <a:solidFill xmlns:a="http://schemas.openxmlformats.org/drawingml/2006/main">
      <a:srgbClr val="F6F4EE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D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20F9B6-0CF6-4E98-813F-58A4C06AE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1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61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MoleculeNet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D5CA76-63D8-414F-AA78-364319C89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86702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43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分子性质预测复现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85D570-0658-4858-A460-93C7B36F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1480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B6D6CF"/>
                </a:solidFill>
                <a:latin typeface="Noto Sans SC"/>
                <a:ea typeface="Noto Sans SC"/>
                <a:cs typeface="Noto Sans SC"/>
              </a:defRPr>
            </a:pPr>
            <a:r>
              <a:rPr sz="2325" b="0">
                <a:solidFill>
                  <a:srgbClr val="B6D6CF"/>
                </a:solidFill>
                <a:latin typeface="Noto Sans SC"/>
                <a:ea typeface="Noto Sans SC"/>
                <a:cs typeface="Noto Sans SC"/>
              </a:rPr>
              <a:t>ESOL、FreeSolv 与 Lipophilicity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2A44FA-4AA1-4817-ADD1-466579193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6735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C9D0D1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C9D0D1"/>
                </a:solidFill>
                <a:latin typeface="Noto Sans SC"/>
                <a:ea typeface="Noto Sans SC"/>
                <a:cs typeface="Noto Sans SC"/>
              </a:rPr>
              <a:t>Pi GUI 实测  /  DeepSeek V4.1 Flash</a:t>
            </a:r>
          </a:p>
          <a:p xmlns:a="http://schemas.openxmlformats.org/drawingml/2006/main">
            <a:pPr>
              <a:defRPr sz="1800" b="0">
                <a:solidFill>
                  <a:srgbClr val="C9D0D1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C9D0D1"/>
                </a:solidFill>
                <a:latin typeface="Noto Sans SC"/>
                <a:ea typeface="Noto Sans SC"/>
                <a:cs typeface="Noto Sans SC"/>
              </a:rPr>
              <a:t>2026 年 9 月 18 日</a:t>
            </a:r>
          </a:p>
        </p:txBody>
      </p:sp>
    </p:spTree>
    <p:extLst>
      <p:ext uri="{BB962C8B-B14F-4D97-AF65-F5344CB8AC3E}">
        <p14:creationId xmlns:p14="http://schemas.microsoft.com/office/powerpoint/2010/main" val="767853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95250E-064F-40A4-8FA1-0CCDBA5B3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研究对象与复现范围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7F34E8-F984-4B69-8642-215AF2C0E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rPr>
              <a:t>论文：Wu 等，Chemical Science 9, 513–530 (2018)；JCR Q1，非中科院分区声明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7E3013-8EFC-494F-847C-71B9E3BC9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533525"/>
          <a:ext xmlns:a="http://schemas.openxmlformats.org/drawingml/2006/main" cx="10972800" cy="30480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190750"/>
                <a:gridCol w="1714500"/>
                <a:gridCol w="4000500"/>
                <a:gridCol w="3067050"/>
              </a:tblGrid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数据集</a:t>
                      </a:r>
                    </a:p>
                  </a:txBody>
                  <a:tcPr marL="133350" marR="133350" marT="85725" marB="85725">
                    <a:solidFill>
                      <a:srgbClr val="172D3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样本数</a:t>
                      </a:r>
                    </a:p>
                  </a:txBody>
                  <a:tcPr marL="133350" marR="133350" marT="85725" marB="85725">
                    <a:solidFill>
                      <a:srgbClr val="172D3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预测目标</a:t>
                      </a:r>
                    </a:p>
                  </a:txBody>
                  <a:tcPr marL="133350" marR="133350" marT="85725" marB="85725">
                    <a:solidFill>
                      <a:srgbClr val="172D3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误差单位</a:t>
                      </a:r>
                    </a:p>
                  </a:txBody>
                  <a:tcPr marL="133350" marR="133350" marT="85725" marB="85725">
                    <a:solidFill>
                      <a:srgbClr val="172D35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ESOL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1,128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水溶解度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log₁₀(mol/L)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FreeSolv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642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水合自由能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kcal/mol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Lipophilicity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4,200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脂溶性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logD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A8786A-95E2-438D-B978-10CC73861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3872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2776F"/>
                </a:solidFill>
                <a:latin typeface="Noto Sans SC"/>
                <a:ea typeface="Noto Sans SC"/>
                <a:cs typeface="Noto Sans SC"/>
              </a:defRPr>
            </a:pPr>
            <a:r>
              <a:rPr sz="2325" b="1">
                <a:solidFill>
                  <a:srgbClr val="12776F"/>
                </a:solidFill>
                <a:latin typeface="Noto Sans SC"/>
                <a:ea typeface="Noto Sans SC"/>
                <a:cs typeface="Noto Sans SC"/>
              </a:rPr>
              <a:t>3 个数据集，4 个模型，3 个随机种子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FBFC41-6CC5-4CC7-B199-2CC9CC7A1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另加 ESOL 骨架划分诊断，共 48 次真实训练与评估</a:t>
            </a:r>
          </a:p>
        </p:txBody>
      </p:sp>
    </p:spTree>
    <p:extLst>
      <p:ext uri="{BB962C8B-B14F-4D97-AF65-F5344CB8AC3E}">
        <p14:creationId xmlns:p14="http://schemas.microsoft.com/office/powerpoint/2010/main" val="17762333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277692-79B7-4118-8E83-7D4E02A11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固定指纹与可学习图表示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198303-CCA5-4D46-8439-E7440BDEF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rPr>
              <a:t>图：Wu et al.，MoleculeNet 作者稿 Fig.5，CC BY-NC 3.0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7330F2-D200-4FD4-95BF-55981844F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56CA4A-2A42-4D44-B3AE-0ED5E11B0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28775"/>
            <a:ext cx="561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2776F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1">
                <a:solidFill>
                  <a:srgbClr val="12776F"/>
                </a:solidFill>
                <a:latin typeface="Noto Sans SC"/>
                <a:ea typeface="Noto Sans SC"/>
                <a:cs typeface="Noto Sans SC"/>
              </a:rPr>
              <a:t>RF / KRR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87E024-F792-4EEE-A246-C15345C5F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55245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ECFP4：半径 2，1024 bits</a:t>
            </a:r>
          </a:p>
          <a:p xmlns:a="http://schemas.openxmlformats.org/drawingml/2006/main">
            <a:pPr>
              <a:defRPr sz="217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RF：500 棵树</a:t>
            </a:r>
          </a:p>
          <a:p xmlns:a="http://schemas.openxmlformats.org/drawingml/2006/main">
            <a:pPr>
              <a:defRPr sz="217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KRR：RBF 核，固定超参数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98D22F-B58D-4F78-AC27-DA47639F4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0025"/>
            <a:ext cx="561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2776F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1">
                <a:solidFill>
                  <a:srgbClr val="12776F"/>
                </a:solidFill>
                <a:latin typeface="Noto Sans SC"/>
                <a:ea typeface="Noto Sans SC"/>
                <a:cs typeface="Noto Sans SC"/>
              </a:rPr>
              <a:t>GraphConv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F12C82-BC25-4268-9DC8-F2FE5BD5F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0"/>
            <a:ext cx="55245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75 维原子特征</a:t>
            </a:r>
          </a:p>
          <a:p xmlns:a="http://schemas.openxmlformats.org/drawingml/2006/main">
            <a:pPr>
              <a:defRPr sz="217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图卷积 [128, 128]，稠密层 256</a:t>
            </a:r>
          </a:p>
          <a:p xmlns:a="http://schemas.openxmlformats.org/drawingml/2006/main">
            <a:pPr>
              <a:defRPr sz="217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训练 100 epochs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7ea13d551b4f96"/>
          <a:stretch xmlns:a="http://schemas.openxmlformats.org/drawingml/2006/main"/>
        </p:blipFill>
        <p:spPr>
          <a:xfrm xmlns:a="http://schemas.openxmlformats.org/drawingml/2006/main">
            <a:off x="7443834" y="1314450"/>
            <a:ext cx="3200307" cy="48291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4971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2238DC-ED6E-4AF0-A9BB-C6C32278B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随机划分与骨架划分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150DF8-1B71-4523-B21A-17BA9264E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rPr>
              <a:t>图：Wu et al.，MoleculeNet 作者稿 Fig.3，CC BY-NC 3.0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D9CF04-1F63-4E11-A075-9EBB5C7B6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4a4df1607a4859"/>
          <a:stretch xmlns:a="http://schemas.openxmlformats.org/drawingml/2006/main"/>
        </p:blipFill>
        <p:spPr>
          <a:xfrm xmlns:a="http://schemas.openxmlformats.org/drawingml/2006/main">
            <a:off x="647700" y="1362934"/>
            <a:ext cx="4114800" cy="4789357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E2D03E-831E-4BB8-A296-6FC1E20AC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600200"/>
            <a:ext cx="581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2776F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1">
                <a:solidFill>
                  <a:srgbClr val="12776F"/>
                </a:solidFill>
                <a:latin typeface="Noto Sans SC"/>
                <a:ea typeface="Noto Sans SC"/>
                <a:cs typeface="Noto Sans SC"/>
              </a:rPr>
              <a:t>主实验：random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BD9941-E9B3-4F6D-A1FD-9D4BC44D3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238375"/>
            <a:ext cx="5810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训练 80%  /  验证 10%  /  测试 10%</a:t>
            </a:r>
          </a:p>
          <a:p xmlns:a="http://schemas.openxmlformats.org/drawingml/2006/main">
            <a:pPr>
              <a:defRPr sz="202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三个种子改变样本分配</a:t>
            </a:r>
          </a:p>
          <a:p xmlns:a="http://schemas.openxmlformats.org/drawingml/2006/main">
            <a:pPr>
              <a:defRPr sz="202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允许相似骨架跨越分区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678813-BA33-4E4B-A0C8-094BA7634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943350"/>
            <a:ext cx="581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2776F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1">
                <a:solidFill>
                  <a:srgbClr val="12776F"/>
                </a:solidFill>
                <a:latin typeface="Noto Sans SC"/>
                <a:ea typeface="Noto Sans SC"/>
                <a:cs typeface="Noto Sans SC"/>
              </a:rPr>
              <a:t>扩展实验：scaffold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4B10DB-08F5-4699-AB69-2B7266FDE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581525"/>
            <a:ext cx="5810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仅 ESOL，骨架不跨分区</a:t>
            </a:r>
          </a:p>
          <a:p xmlns:a="http://schemas.openxmlformats.org/drawingml/2006/main">
            <a:pPr>
              <a:defRPr sz="202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三个种子的分区相同</a:t>
            </a:r>
          </a:p>
          <a:p xmlns:a="http://schemas.openxmlformats.org/drawingml/2006/main">
            <a:pPr>
              <a:defRPr sz="202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用于检查分布外预测的敏感性</a:t>
            </a:r>
          </a:p>
        </p:txBody>
      </p:sp>
    </p:spTree>
    <p:extLst>
      <p:ext uri="{BB962C8B-B14F-4D97-AF65-F5344CB8AC3E}">
        <p14:creationId xmlns:p14="http://schemas.microsoft.com/office/powerpoint/2010/main" val="11745297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179837-8FB0-4FD6-AF2C-72316FCB7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固定协议与原论文差异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7C2FE0-553F-434F-A804-48CDF4928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rPr>
              <a:t>协议：experiment.json；环境：DeepChem 2.8.0 / TensorFlow 2.15.1 / Windows CPU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DFE3FD-F1B2-4516-9F34-637EB4190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rPr>
              <a:t>05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381125"/>
          <a:ext xmlns:a="http://schemas.openxmlformats.org/drawingml/2006/main" cx="10972800" cy="44577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571750"/>
                <a:gridCol w="8401050"/>
              </a:tblGrid>
              <a:tr h="63681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项目</a:t>
                      </a:r>
                    </a:p>
                  </a:txBody>
                  <a:tcPr marL="133350" marR="133350" marT="85725" marB="85725">
                    <a:solidFill>
                      <a:srgbClr val="172D3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本次设置</a:t>
                      </a:r>
                    </a:p>
                  </a:txBody>
                  <a:tcPr marL="133350" marR="133350" marT="85725" marB="85725">
                    <a:solidFill>
                      <a:srgbClr val="172D35"/>
                    </a:solidFill>
                  </a:tcPr>
                </a:tc>
              </a:tr>
              <a:tr h="63681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随机种子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123、456、789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</a:tr>
              <a:tr h="63681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GraphConv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[128,128]；dense 256；batch 128；lr 0.0005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</a:tr>
              <a:tr h="63681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训练终点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固定 100 epochs，不按测试集挑选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</a:tr>
              <a:tr h="63681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KRR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RBF；alpha 0.001；gamma 1/1024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</a:tr>
              <a:tr h="63681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标签处理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仅训练集拟合标准化，预测后逆变换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</a:tr>
              <a:tr h="63681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未复刻项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原始划分索引、旧环境、超参数搜索、全部模型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80823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868B2A-1B88-4207-A065-F77FB264D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随机划分的测试误差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E3A20C-A46A-4A2C-82F4-5897E709D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rPr>
              <a:t>本次实验：verification/summary.json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3B7E9F-57B1-4781-893F-8FCDB51B2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rPr>
              <a:t>06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590675"/>
          <a:ext xmlns:a="http://schemas.openxmlformats.org/drawingml/2006/main" cx="10972800" cy="31242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514600"/>
                <a:gridCol w="2114550"/>
                <a:gridCol w="2114550"/>
                <a:gridCol w="2114550"/>
                <a:gridCol w="2114550"/>
              </a:tblGrid>
              <a:tr h="7810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数据集 / 单位</a:t>
                      </a:r>
                    </a:p>
                  </a:txBody>
                  <a:tcPr marL="133350" marR="133350" marT="85725" marB="85725">
                    <a:solidFill>
                      <a:srgbClr val="172D3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均值基线</a:t>
                      </a:r>
                    </a:p>
                  </a:txBody>
                  <a:tcPr marL="133350" marR="133350" marT="85725" marB="85725">
                    <a:solidFill>
                      <a:srgbClr val="172D3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RF</a:t>
                      </a:r>
                    </a:p>
                  </a:txBody>
                  <a:tcPr marL="133350" marR="133350" marT="85725" marB="85725">
                    <a:solidFill>
                      <a:srgbClr val="172D3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KRR</a:t>
                      </a:r>
                    </a:p>
                  </a:txBody>
                  <a:tcPr marL="133350" marR="133350" marT="85725" marB="85725">
                    <a:solidFill>
                      <a:srgbClr val="172D3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GraphConv</a:t>
                      </a:r>
                    </a:p>
                  </a:txBody>
                  <a:tcPr marL="133350" marR="133350" marT="85725" marB="85725">
                    <a:solidFill>
                      <a:srgbClr val="172D35"/>
                    </a:solidFill>
                  </a:tcPr>
                </a:tc>
              </a:tr>
              <a:tr h="7810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ESOL</a:t>
                      </a:r>
                    </a:p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log10(mol/L)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2.137 ± 0.016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1.190 ± 0.159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1.485 ± 0.119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1.046 ± 0.106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FreeSolv</a:t>
                      </a:r>
                    </a:p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kcal/mol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3.963 ± 0.473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2.061 ± 0.664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1.999 ± 0.410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2.151 ± 0.232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Lipophilicity</a:t>
                      </a:r>
                    </a:p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logD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1.169 ± 0.014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0.838 ± 0.011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0.835 ± 0.016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0.704 ± 0.016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E6447D-5522-4B6A-9E5D-A17F6CC35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339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776F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12776F"/>
                </a:solidFill>
                <a:latin typeface="Noto Sans SC"/>
                <a:ea typeface="Noto Sans SC"/>
                <a:cs typeface="Noto Sans SC"/>
              </a:rPr>
              <a:t>均值 ± 样本标准差，n = 3；RMSE 越低越好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1AD6BB-2C39-4985-AD8E-86B2A4BFB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9595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各数据集单位不同，数值大小不能跨行直接比较</a:t>
            </a:r>
          </a:p>
        </p:txBody>
      </p:sp>
    </p:spTree>
    <p:extLst>
      <p:ext uri="{BB962C8B-B14F-4D97-AF65-F5344CB8AC3E}">
        <p14:creationId xmlns:p14="http://schemas.microsoft.com/office/powerpoint/2010/main" val="175394123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FD9E5C-1938-412E-A4C7-FD8C1B252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ESOL：本次结果与论文参考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30034B-33F2-461C-83C2-59A625158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rPr>
              <a:t>论文参考：作者稿 Table 8，p.51；本次：verification/summary.json；协议不完全相同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220CC5-6A82-47E2-A8A7-38E6715AA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rPr>
              <a:t>07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09600" y="1381125"/>
          <a:ext xmlns:a="http://schemas.openxmlformats.org/drawingml/2006/main" cx="10839450" cy="3571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43e8de972d14165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735EC7-72E7-4650-8304-F5857B37E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本次 SD：RF 0.159，KRR 0.119，GraphConv 0.106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CE11B3-2128-46CE-BDC3-36A09563C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776F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2776F"/>
                </a:solidFill>
                <a:latin typeface="Noto Sans SC"/>
                <a:ea typeface="Noto Sans SC"/>
                <a:cs typeface="Noto Sans SC"/>
              </a:rPr>
              <a:t>训练均值基线 RMSE：2.137 ± 0.016</a:t>
            </a:r>
          </a:p>
        </p:txBody>
      </p:sp>
    </p:spTree>
    <p:extLst>
      <p:ext uri="{BB962C8B-B14F-4D97-AF65-F5344CB8AC3E}">
        <p14:creationId xmlns:p14="http://schemas.microsoft.com/office/powerpoint/2010/main" val="131639039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BC0C15-7F11-4F92-B5A2-3B0852701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FreeSolv：本次结果与论文参考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9469FF-181C-4002-8C95-2C4C487BB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rPr>
              <a:t>论文参考：作者稿 Table 8，p.51；本次：verification/summary.json；协议不完全相同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4CA7DE-D132-4C61-925C-020849B18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rPr>
              <a:t>08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09600" y="1381125"/>
          <a:ext xmlns:a="http://schemas.openxmlformats.org/drawingml/2006/main" cx="10839450" cy="3571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9bcccb751714a49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34C88C-66CC-4AE7-BF99-D3A146ADD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本次 SD：RF 0.664，KRR 0.410，GraphConv 0.232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886660-1195-4C00-924C-584560055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776F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2776F"/>
                </a:solidFill>
                <a:latin typeface="Noto Sans SC"/>
                <a:ea typeface="Noto Sans SC"/>
                <a:cs typeface="Noto Sans SC"/>
              </a:rPr>
              <a:t>训练均值基线 RMSE：3.963 ± 0.473</a:t>
            </a:r>
          </a:p>
        </p:txBody>
      </p:sp>
    </p:spTree>
    <p:extLst>
      <p:ext uri="{BB962C8B-B14F-4D97-AF65-F5344CB8AC3E}">
        <p14:creationId xmlns:p14="http://schemas.microsoft.com/office/powerpoint/2010/main" val="12976562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320994-C45C-49FB-BE3A-7DE21D0D0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Lipophilicity：本次结果与论文参考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8376CF-9070-40DF-92B0-CD4ECC550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rPr>
              <a:t>论文参考：作者稿 Table 8，p.51；本次：verification/summary.json；协议不完全相同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DE508A-79A2-473C-A0DB-342E531E1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rPr>
              <a:t>09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09600" y="1381125"/>
          <a:ext xmlns:a="http://schemas.openxmlformats.org/drawingml/2006/main" cx="10839450" cy="3571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3a6e1fedb1e45bd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3D75A2-13DC-4370-8BF8-7D1DD7D22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本次 SD：RF 0.011，KRR 0.016，GraphConv 0.016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7D0795-764F-4DC9-A62D-910A9A656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776F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2776F"/>
                </a:solidFill>
                <a:latin typeface="Noto Sans SC"/>
                <a:ea typeface="Noto Sans SC"/>
                <a:cs typeface="Noto Sans SC"/>
              </a:rPr>
              <a:t>训练均值基线 RMSE：1.169 ± 0.014</a:t>
            </a:r>
          </a:p>
        </p:txBody>
      </p:sp>
    </p:spTree>
    <p:extLst>
      <p:ext uri="{BB962C8B-B14F-4D97-AF65-F5344CB8AC3E}">
        <p14:creationId xmlns:p14="http://schemas.microsoft.com/office/powerpoint/2010/main" val="84358435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1B1E55-91E2-4F98-BC97-8EA9764CA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ESOL 骨架划分提高了预测难度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E0E71C-B824-4FED-9F6E-F94970883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rPr>
              <a:t>额外诊断：同一骨架分区，三个学习器种子；不能当作三折交叉验证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A21835-C772-4523-8922-52F2FA163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rPr>
              <a:t>10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09600" y="1495425"/>
          <a:ext xmlns:a="http://schemas.openxmlformats.org/drawingml/2006/main" cx="10839450" cy="3829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063a14712204553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909AE7-F1AF-4A80-81B5-F9E33EE8B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1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KRR 的骨架测试误差高于均值基线，不能只报告随机划分的成绩</a:t>
            </a:r>
          </a:p>
        </p:txBody>
      </p:sp>
    </p:spTree>
    <p:extLst>
      <p:ext uri="{BB962C8B-B14F-4D97-AF65-F5344CB8AC3E}">
        <p14:creationId xmlns:p14="http://schemas.microsoft.com/office/powerpoint/2010/main" val="123736433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B049B7-E40C-42E8-9D87-40F36DDB7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ESOL 图卷积的验证误差轨迹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B4087D-D578-4426-97D6-76EBB58D4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rPr>
              <a:t>本次实验：verification/summary.json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3A048F-63A2-4426-A81E-4635358A3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rPr>
              <a:t>11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19125" y="1447800"/>
          <a:ext xmlns:a="http://schemas.openxmlformats.org/drawingml/2006/main" cx="10829925" cy="41338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d4a7bebf679429c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5AAC55-2D4A-4FE0-A3A4-A07CA9142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762625"/>
            <a:ext cx="10715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2776F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1">
                <a:solidFill>
                  <a:srgbClr val="12776F"/>
                </a:solidFill>
                <a:latin typeface="Noto Sans SC"/>
                <a:ea typeface="Noto Sans SC"/>
                <a:cs typeface="Noto Sans SC"/>
              </a:rPr>
              <a:t>统一报告第 100 个 epoch，不使用测试集选择检查点</a:t>
            </a:r>
          </a:p>
        </p:txBody>
      </p:sp>
    </p:spTree>
    <p:extLst>
      <p:ext uri="{BB962C8B-B14F-4D97-AF65-F5344CB8AC3E}">
        <p14:creationId xmlns:p14="http://schemas.microsoft.com/office/powerpoint/2010/main" val="33496852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AD016F-AD4E-4B7C-948E-5C9332501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结果可追溯到每个分子的预测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EBB511-60C6-47A7-9DCF-8F28F0D10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rPr>
              <a:t>本次实验：verification/summary.json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1D3291-D3CC-4012-97DA-BD29036BA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rPr>
              <a:t>12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514475"/>
          <a:ext xmlns:a="http://schemas.openxmlformats.org/drawingml/2006/main" cx="10972800" cy="40100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048000"/>
                <a:gridCol w="7924800"/>
              </a:tblGrid>
              <a:tr h="6683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证据</a:t>
                      </a:r>
                    </a:p>
                  </a:txBody>
                  <a:tcPr marL="133350" marR="133350" marT="85725" marB="85725">
                    <a:solidFill>
                      <a:srgbClr val="172D3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本次检查结果</a:t>
                      </a:r>
                    </a:p>
                  </a:txBody>
                  <a:tcPr marL="133350" marR="133350" marT="85725" marB="85725">
                    <a:solidFill>
                      <a:srgbClr val="172D35"/>
                    </a:solidFill>
                  </a:tcPr>
                </a:tc>
              </a:tr>
              <a:tr h="6683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完整实验矩阵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48 / 48 个运行，全部存在真实预测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</a:tr>
              <a:tr h="6683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数据与分区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源文件 SHA-256、逐行标签、分区覆盖与交集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</a:tr>
              <a:tr h="6683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指标计算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独立重算 RMSE / MAE / R²，与保存值一致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</a:tr>
              <a:tr h="6683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训练过程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仅训练集标准化；GC 全部完成 100 epochs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</a:tr>
              <a:tr h="6683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ESOL seed 123 重跑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3模型完全一致；RF 最大绝对差 1.78×10⁻¹⁵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2394E1-AA35-48A0-8F3E-488F7671B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776F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2776F"/>
                </a:solidFill>
                <a:latin typeface="Noto Sans SC"/>
                <a:ea typeface="Noto Sans SC"/>
                <a:cs typeface="Noto Sans SC"/>
              </a:rPr>
              <a:t>原始失败日志保留，缺失或异常运行直接判为失败</a:t>
            </a:r>
          </a:p>
        </p:txBody>
      </p:sp>
    </p:spTree>
    <p:extLst>
      <p:ext uri="{BB962C8B-B14F-4D97-AF65-F5344CB8AC3E}">
        <p14:creationId xmlns:p14="http://schemas.microsoft.com/office/powerpoint/2010/main" val="6149905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3C0879-DB27-4A45-8142-2DC3565E2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Paper2Agent：论文阅读包实测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2BBC5E-E8EF-42A0-8041-4A868B3E9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rPr>
              <a:t>Paper2Agent：固定提交 8c2d059；使用 Paper2Skill，未测试完整 Paper2MCP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962B5E-DECA-49B8-89D3-30F01C234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3C19B0-62AD-4745-9775-2086BAD30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2776F"/>
                </a:solidFill>
                <a:latin typeface="Noto Sans SC"/>
                <a:ea typeface="Noto Sans SC"/>
                <a:cs typeface="Noto Sans SC"/>
              </a:defRPr>
            </a:pPr>
            <a:r>
              <a:rPr sz="3750" b="1">
                <a:solidFill>
                  <a:srgbClr val="12776F"/>
                </a:solidFill>
                <a:latin typeface="Noto Sans SC"/>
                <a:ea typeface="Noto Sans SC"/>
                <a:cs typeface="Noto Sans SC"/>
              </a:rPr>
              <a:t>65 页作者稿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9566FE-5B06-4024-81E8-F75DF33E7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10572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30 个图像资产，1 个核验后的结果 CSV</a:t>
            </a:r>
          </a:p>
          <a:p xmlns:a="http://schemas.openxmlformats.org/drawingml/2006/main">
            <a:pPr>
              <a:defRPr sz="2250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严格验证通过，状态为 reviewed_with_limitations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66750" y="3952875"/>
          <a:ext xmlns:a="http://schemas.openxmlformats.org/drawingml/2006/main" cx="10858500" cy="20383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409950"/>
                <a:gridCol w="7448550"/>
              </a:tblGrid>
              <a:tr h="50958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保留的限制</a:t>
                      </a:r>
                    </a:p>
                  </a:txBody>
                  <a:tcPr marL="133350" marR="133350" marT="85725" marB="85725">
                    <a:solidFill>
                      <a:srgbClr val="172D3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处理方式</a:t>
                      </a:r>
                    </a:p>
                  </a:txBody>
                  <a:tcPr marL="133350" marR="133350" marT="85725" marB="85725">
                    <a:solidFill>
                      <a:srgbClr val="172D35"/>
                    </a:solidFill>
                  </a:tcPr>
                </a:tc>
              </a:tr>
              <a:tr h="50958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复杂表格与公式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保留原图，不伪造完整结构化数据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</a:tr>
              <a:tr h="50958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论文与作者稿编号不同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作者稿 Fig.13 对应期刊 Fig.12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</a:tr>
              <a:tr h="50958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Windows 路径检查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一行路径规范化补丁，明确记录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690160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592E4A-4953-4EBA-BF65-1653BBD49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Paper2Any：大纲与结构化路线实测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F94B13-C20F-4A47-8492-6FE56F967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rPr>
              <a:t>Paper2Any：固定提交 b538531；真实上游调用，未覆盖多模态Web平台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3868FD-D424-48BC-9D3B-FA809903B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A18A33-9F6A-48C4-9243-2968832C9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81150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2776F"/>
                </a:solidFill>
                <a:latin typeface="Noto Sans SC"/>
                <a:ea typeface="Noto Sans SC"/>
                <a:cs typeface="Noto Sans SC"/>
              </a:defRPr>
            </a:pPr>
            <a:r>
              <a:rPr sz="2850" b="1">
                <a:solidFill>
                  <a:srgbClr val="12776F"/>
                </a:solidFill>
                <a:latin typeface="Noto Sans SC"/>
                <a:ea typeface="Noto Sans SC"/>
                <a:cs typeface="Noto Sans SC"/>
              </a:rPr>
              <a:t>10 页大纲，2 次原生流程调用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3B3F97-B41C-40FE-B815-5FF038CF0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7172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生成 29.2 秒，修订 14.7 秒</a:t>
            </a:r>
          </a:p>
          <a:p xmlns:a="http://schemas.openxmlformats.org/drawingml/2006/main">
            <a:pPr>
              <a:defRPr sz="217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模型：DeepSeek V4.1 Flash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6E8723-E1AF-48F2-BF39-7148C84DC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4807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1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实际输出章节示例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77EA8B-BCA3-4704-9EE7-3BC4E91B0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005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2. 研究背景与动机</a:t>
            </a:r>
          </a:p>
          <a:p xmlns:a="http://schemas.openxmlformats.org/drawingml/2006/main">
            <a:pPr>
              <a:defRPr sz="202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3. 总体设计与核心贡献</a:t>
            </a:r>
          </a:p>
          <a:p xmlns:a="http://schemas.openxmlformats.org/drawingml/2006/main">
            <a:pPr>
              <a:defRPr sz="202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4. 数据集与任务层次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6AF60D-68CD-4673-ABC9-6EFB95DBE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721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F703E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BF703E"/>
                </a:solidFill>
                <a:latin typeface="Noto Sans SC"/>
                <a:ea typeface="Noto Sans SC"/>
                <a:cs typeface="Noto Sans SC"/>
              </a:rPr>
              <a:t>结构化导出未通过，保留失败证据，未用默认模板冒充成功</a:t>
            </a:r>
          </a:p>
        </p:txBody>
      </p:sp>
    </p:spTree>
    <p:extLst>
      <p:ext uri="{BB962C8B-B14F-4D97-AF65-F5344CB8AC3E}">
        <p14:creationId xmlns:p14="http://schemas.microsoft.com/office/powerpoint/2010/main" val="38001405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F8B786-4E90-45C8-A514-F9E21F5E1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Pi GUI 的真实执行与文档预览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1760FA-0A69-481E-A0C9-5A0067431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rPr>
              <a:t>本机真实 Pi GUI 截图；验收范围和异常见 gui-test/acceptance.json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504E31-5881-43C1-8740-A1C488AB4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rPr>
              <a:t>15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3aa28b29c9424f"/>
          <a:stretch xmlns:a="http://schemas.openxmlformats.org/drawingml/2006/main"/>
        </p:blipFill>
        <p:spPr>
          <a:xfrm xmlns:a="http://schemas.openxmlformats.org/drawingml/2006/main">
            <a:off x="915637" y="1343025"/>
            <a:ext cx="7046026" cy="42386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2F9A4C-B514-471E-BB27-A3F44BE46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552575"/>
            <a:ext cx="2819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2776F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1">
                <a:solidFill>
                  <a:srgbClr val="12776F"/>
                </a:solidFill>
                <a:latin typeface="Noto Sans SC"/>
                <a:ea typeface="Noto Sans SC"/>
                <a:cs typeface="Noto Sans SC"/>
              </a:rPr>
              <a:t>实际验证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C7D443-818D-46F1-8178-A7F0ADA20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152650"/>
            <a:ext cx="2838450" cy="3371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准确模型</a:t>
            </a:r>
          </a:p>
          <a:p xmlns:a="http://schemas.openxmlformats.org/drawingml/2006/main">
            <a:pPr>
              <a:defRPr sz="202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技能补全</a:t>
            </a:r>
          </a:p>
          <a:p xmlns:a="http://schemas.openxmlformats.org/drawingml/2006/main">
            <a:pPr>
              <a:defRPr sz="202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Enter 发送</a:t>
            </a:r>
          </a:p>
          <a:p xmlns:a="http://schemas.openxmlformats.org/drawingml/2006/main">
            <a:pPr>
              <a:defRPr sz="202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运行中任务可见</a:t>
            </a:r>
          </a:p>
          <a:p xmlns:a="http://schemas.openxmlformats.org/drawingml/2006/main">
            <a:pPr>
              <a:defRPr sz="202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工具回执</a:t>
            </a:r>
          </a:p>
          <a:p xmlns:a="http://schemas.openxmlformats.org/drawingml/2006/main">
            <a:pPr>
              <a:defRPr sz="202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文档预览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20C598-38C9-470B-B0CC-9B6A734B1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F703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BF703E"/>
                </a:solidFill>
                <a:latin typeface="Noto Sans SC"/>
                <a:ea typeface="Noto Sans SC"/>
                <a:cs typeface="Noto Sans SC"/>
              </a:rPr>
              <a:t>长会话状态刷新触发 IPC 递归深度错误，稳定性未通过</a:t>
            </a:r>
          </a:p>
        </p:txBody>
      </p:sp>
    </p:spTree>
    <p:extLst>
      <p:ext uri="{BB962C8B-B14F-4D97-AF65-F5344CB8AC3E}">
        <p14:creationId xmlns:p14="http://schemas.microsoft.com/office/powerpoint/2010/main" val="192882330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AA81A6-8542-4AAB-BA4F-F0F28944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结论与适用边界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E10B7F-4F6F-46CB-8185-34E3779F2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rPr>
              <a:t>全部结果、源码、协议与限制说明随交付目录保存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C45122-6C5D-4453-AB03-26EF03E38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40019E-FA1D-44E1-B11C-D5C897F84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52575"/>
            <a:ext cx="1062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2776F"/>
                </a:solidFill>
                <a:latin typeface="Noto Sans SC"/>
                <a:ea typeface="Noto Sans SC"/>
                <a:cs typeface="Noto Sans SC"/>
              </a:defRPr>
            </a:pPr>
            <a:r>
              <a:rPr sz="2475" b="1">
                <a:solidFill>
                  <a:srgbClr val="12776F"/>
                </a:solidFill>
                <a:latin typeface="Noto Sans SC"/>
                <a:ea typeface="Noto Sans SC"/>
                <a:cs typeface="Noto Sans SC"/>
              </a:rPr>
              <a:t>实验结论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8985C4-23F5-474B-AF23-FF6BD8811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106680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GraphConv 在 ESOL、Lipophilicity 的随机划分中</a:t>
            </a:r>
          </a:p>
          <a:p xmlns:a="http://schemas.openxmlformats.org/drawingml/2006/main">
            <a:pPr>
              <a:defRPr sz="217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取得低于本次 RF、KRR 的平均 RMSE。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8E372E-7BF2-4FF7-9FC6-09322F58E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05225"/>
            <a:ext cx="1062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2776F"/>
                </a:solidFill>
                <a:latin typeface="Noto Sans SC"/>
                <a:ea typeface="Noto Sans SC"/>
                <a:cs typeface="Noto Sans SC"/>
              </a:defRPr>
            </a:pPr>
            <a:r>
              <a:rPr sz="2475" b="1">
                <a:solidFill>
                  <a:srgbClr val="12776F"/>
                </a:solidFill>
                <a:latin typeface="Noto Sans SC"/>
                <a:ea typeface="Noto Sans SC"/>
                <a:cs typeface="Noto Sans SC"/>
              </a:rPr>
              <a:t>可复核范围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B0AFB8-4B2B-4732-AF7D-8C77A8492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14825"/>
            <a:ext cx="1066800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全量数据、固定协议、逐分子预测和独立指标审计</a:t>
            </a:r>
          </a:p>
          <a:p xmlns:a="http://schemas.openxmlformats.org/drawingml/2006/main">
            <a:pPr>
              <a:defRPr sz="217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保留骨架划分负结果与工具运行中的真实失败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25F45E-70BE-4C46-BE3F-81B62B32B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81675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BF703E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BF703E"/>
                </a:solidFill>
                <a:latin typeface="Noto Sans SC"/>
                <a:ea typeface="Noto Sans SC"/>
                <a:cs typeface="Noto Sans SC"/>
              </a:rPr>
              <a:t>局部现代环境复现，不构成临床有效性证据</a:t>
            </a:r>
          </a:p>
        </p:txBody>
      </p:sp>
    </p:spTree>
    <p:extLst>
      <p:ext uri="{BB962C8B-B14F-4D97-AF65-F5344CB8AC3E}">
        <p14:creationId xmlns:p14="http://schemas.microsoft.com/office/powerpoint/2010/main" val="7514664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2026-09-18T14:48:54.4730000Z</dcterms:created>
  <dcterms:modified xsi:type="dcterms:W3CDTF">2026-09-18T14:48:54.4730000Z</dcterms:modified>
</coreProperties>
</file>