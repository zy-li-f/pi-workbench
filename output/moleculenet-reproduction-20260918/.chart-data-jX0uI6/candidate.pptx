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5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a2bfc5e34246c0" /><Relationship Type="http://schemas.openxmlformats.org/officeDocument/2006/relationships/extended-properties" Target="/docProps/app.xml" Id="Rd97da282f4cb4a71" /><Relationship Type="http://schemas.openxmlformats.org/officeDocument/2006/relationships/officeDocument" Target="/ppt/presentation.xml" Id="R7f232f748ace48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4321c61b6a401b"/>
  </p:sldMasterIdLst>
  <p:notesMasterIdLst>
    <p:notesMasterId xmlns:r="http://schemas.openxmlformats.org/officeDocument/2006/relationships" r:id="Rd51fba46d0e64d02"/>
  </p:notesMasterIdLst>
  <p:sldIdLst>
    <p:sldId xmlns:r="http://schemas.openxmlformats.org/officeDocument/2006/relationships" id="256" r:id="R9715f925bb3f43b2"/>
    <p:sldId xmlns:r="http://schemas.openxmlformats.org/officeDocument/2006/relationships" id="257" r:id="Rc3146f037d314909"/>
    <p:sldId xmlns:r="http://schemas.openxmlformats.org/officeDocument/2006/relationships" id="258" r:id="R66bbde254d994287"/>
    <p:sldId xmlns:r="http://schemas.openxmlformats.org/officeDocument/2006/relationships" id="259" r:id="Rbb32326ea1534930"/>
    <p:sldId xmlns:r="http://schemas.openxmlformats.org/officeDocument/2006/relationships" id="260" r:id="Rf37455de77a145d0"/>
    <p:sldId xmlns:r="http://schemas.openxmlformats.org/officeDocument/2006/relationships" id="261" r:id="Rb86a72e45210422c"/>
    <p:sldId xmlns:r="http://schemas.openxmlformats.org/officeDocument/2006/relationships" id="262" r:id="Raeb10c55634f4d09"/>
    <p:sldId xmlns:r="http://schemas.openxmlformats.org/officeDocument/2006/relationships" id="263" r:id="R174c7da80cda4c3f"/>
    <p:sldId xmlns:r="http://schemas.openxmlformats.org/officeDocument/2006/relationships" id="264" r:id="R8ad1da4173054b76"/>
    <p:sldId xmlns:r="http://schemas.openxmlformats.org/officeDocument/2006/relationships" id="265" r:id="Rd763350f8fab4bcd"/>
    <p:sldId xmlns:r="http://schemas.openxmlformats.org/officeDocument/2006/relationships" id="266" r:id="Rdba4010a4a2a4b8a"/>
    <p:sldId xmlns:r="http://schemas.openxmlformats.org/officeDocument/2006/relationships" id="267" r:id="R5562472759bc4d27"/>
    <p:sldId xmlns:r="http://schemas.openxmlformats.org/officeDocument/2006/relationships" id="268" r:id="R23917f1bc1164010"/>
    <p:sldId xmlns:r="http://schemas.openxmlformats.org/officeDocument/2006/relationships" id="269" r:id="Rfeb19126270047f9"/>
    <p:sldId xmlns:r="http://schemas.openxmlformats.org/officeDocument/2006/relationships" id="270" r:id="R77e629d42d9641b4"/>
    <p:sldId xmlns:r="http://schemas.openxmlformats.org/officeDocument/2006/relationships" id="271" r:id="R34a23ea278704e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4d35e893284d59" /><Relationship Type="http://schemas.openxmlformats.org/officeDocument/2006/relationships/slideMaster" Target="/ppt/slideMasters/slideMaster1.xml" Id="Rd04321c61b6a401b" /><Relationship Type="http://schemas.openxmlformats.org/officeDocument/2006/relationships/notesMaster" Target="/ppt/notesMasters/notesMaster1.xml" Id="Rd51fba46d0e64d02" /><Relationship Type="http://schemas.openxmlformats.org/officeDocument/2006/relationships/presProps" Target="/ppt/presProps.xml" Id="R9b92d454a67542ee" /><Relationship Type="http://schemas.openxmlformats.org/officeDocument/2006/relationships/tableStyles" Target="/ppt/tableStyles.xml" Id="R9db91b2f0072429a" /><Relationship Type="http://schemas.openxmlformats.org/officeDocument/2006/relationships/slide" Target="/ppt/slides/slide1.xml" Id="R9715f925bb3f43b2" /><Relationship Type="http://schemas.openxmlformats.org/officeDocument/2006/relationships/slide" Target="/ppt/slides/slide2.xml" Id="Rc3146f037d314909" /><Relationship Type="http://schemas.openxmlformats.org/officeDocument/2006/relationships/slide" Target="/ppt/slides/slide3.xml" Id="R66bbde254d994287" /><Relationship Type="http://schemas.openxmlformats.org/officeDocument/2006/relationships/slide" Target="/ppt/slides/slide4.xml" Id="Rbb32326ea1534930" /><Relationship Type="http://schemas.openxmlformats.org/officeDocument/2006/relationships/slide" Target="/ppt/slides/slide5.xml" Id="Rf37455de77a145d0" /><Relationship Type="http://schemas.openxmlformats.org/officeDocument/2006/relationships/slide" Target="/ppt/slides/slide6.xml" Id="Rb86a72e45210422c" /><Relationship Type="http://schemas.openxmlformats.org/officeDocument/2006/relationships/slide" Target="/ppt/slides/slide7.xml" Id="Raeb10c55634f4d09" /><Relationship Type="http://schemas.openxmlformats.org/officeDocument/2006/relationships/slide" Target="/ppt/slides/slide8.xml" Id="R174c7da80cda4c3f" /><Relationship Type="http://schemas.openxmlformats.org/officeDocument/2006/relationships/slide" Target="/ppt/slides/slide9.xml" Id="R8ad1da4173054b76" /><Relationship Type="http://schemas.openxmlformats.org/officeDocument/2006/relationships/slide" Target="/ppt/slides/slide10.xml" Id="Rd763350f8fab4bcd" /><Relationship Type="http://schemas.openxmlformats.org/officeDocument/2006/relationships/slide" Target="/ppt/slides/slide11.xml" Id="Rdba4010a4a2a4b8a" /><Relationship Type="http://schemas.openxmlformats.org/officeDocument/2006/relationships/slide" Target="/ppt/slides/slide12.xml" Id="R5562472759bc4d27" /><Relationship Type="http://schemas.openxmlformats.org/officeDocument/2006/relationships/slide" Target="/ppt/slides/slide13.xml" Id="R23917f1bc1164010" /><Relationship Type="http://schemas.openxmlformats.org/officeDocument/2006/relationships/slide" Target="/ppt/slides/slide14.xml" Id="Rfeb19126270047f9" /><Relationship Type="http://schemas.openxmlformats.org/officeDocument/2006/relationships/slide" Target="/ppt/slides/slide15.xml" Id="R77e629d42d9641b4" /><Relationship Type="http://schemas.openxmlformats.org/officeDocument/2006/relationships/slide" Target="/ppt/slides/slide16.xml" Id="R34a23ea278704e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becd68638548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c0092232844522" /><Relationship Type="http://schemas.openxmlformats.org/officeDocument/2006/relationships/notesMaster" Target="/ppt/notesMasters/notesMaster1.xml" Id="Rddbca059874141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b0204068b846e2" /><Relationship Type="http://schemas.openxmlformats.org/officeDocument/2006/relationships/notesMaster" Target="/ppt/notesMasters/notesMaster1.xml" Id="Rb7d6478d3b4b4c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4f1b2d90054c27" /><Relationship Type="http://schemas.openxmlformats.org/officeDocument/2006/relationships/notesMaster" Target="/ppt/notesMasters/notesMaster1.xml" Id="R780254839c3c40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c5803ea8ca4f6f" /><Relationship Type="http://schemas.openxmlformats.org/officeDocument/2006/relationships/notesMaster" Target="/ppt/notesMasters/notesMaster1.xml" Id="R30b6daf01a25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347de492224f20" /><Relationship Type="http://schemas.openxmlformats.org/officeDocument/2006/relationships/notesMaster" Target="/ppt/notesMasters/notesMaster1.xml" Id="Rd6b254bc0ad04af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3ba7602c2b4ce8" /><Relationship Type="http://schemas.openxmlformats.org/officeDocument/2006/relationships/notesMaster" Target="/ppt/notesMasters/notesMaster1.xml" Id="R57888c3197f34a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65075d826744bb" /><Relationship Type="http://schemas.openxmlformats.org/officeDocument/2006/relationships/notesMaster" Target="/ppt/notesMasters/notesMaster1.xml" Id="Rfd10bcb9862c46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36ffaec01d4357" /><Relationship Type="http://schemas.openxmlformats.org/officeDocument/2006/relationships/notesMaster" Target="/ppt/notesMasters/notesMaster1.xml" Id="Re5ec68ba11a44e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91b037dbcf43f4" /><Relationship Type="http://schemas.openxmlformats.org/officeDocument/2006/relationships/notesMaster" Target="/ppt/notesMasters/notesMaster1.xml" Id="R7240cf32da1d4b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6bb89ad1cf42c7" /><Relationship Type="http://schemas.openxmlformats.org/officeDocument/2006/relationships/notesMaster" Target="/ppt/notesMasters/notesMaster1.xml" Id="Rec1f87c11b8341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98b6adc7d7462b" /><Relationship Type="http://schemas.openxmlformats.org/officeDocument/2006/relationships/notesMaster" Target="/ppt/notesMasters/notesMaster1.xml" Id="R5e588dea5e714d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129914c6bd140a0" /><Relationship Type="http://schemas.openxmlformats.org/officeDocument/2006/relationships/notesMaster" Target="/ppt/notesMasters/notesMaster1.xml" Id="R5e10b0a863be43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86341b4a6f40ef" /><Relationship Type="http://schemas.openxmlformats.org/officeDocument/2006/relationships/notesMaster" Target="/ppt/notesMasters/notesMaster1.xml" Id="Rd4aa96bdf2ef41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b4a7c810964e51" /><Relationship Type="http://schemas.openxmlformats.org/officeDocument/2006/relationships/notesMaster" Target="/ppt/notesMasters/notesMaster1.xml" Id="R260509bd4d964b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bbf31f84764f42" /><Relationship Type="http://schemas.openxmlformats.org/officeDocument/2006/relationships/notesMaster" Target="/ppt/notesMasters/notesMaster1.xml" Id="R1f155268fdb4453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526d30ca814623" /><Relationship Type="http://schemas.openxmlformats.org/officeDocument/2006/relationships/notesMaster" Target="/ppt/notesMasters/notesMaster1.xml" Id="R725292ed07a4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本报告解释 MoleculeNet 的一个可在本机执行的子集。论文提出统一分子机器学习基准，本次选择三个理化性质回归数据集，比较传统指纹模型与图卷积，同时检查 Pi 调用 Paper2Agent 和 Paper2Any 的真实工作过程。48 个运行包括 36 个随机划分实验和 12 个 ESOL 骨架划分扩展。所有实验都是现代环境下的局部复现，不能代表完整论文复现。来源：https://pubmed.ncbi.nlm.nih.gov/29629118/；本地 experiment.json、verification/summary.json。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Wu 等在 Chemical Science 发表 MoleculeNet，DOI 10.1039/C7SC02664A。PubMed 收录 PMID 29629118，在线发表于2017年，卷期属于2018年。RSC 当前期刊指标把 Chemical Science 列为 JCR Q1，分类为 Chemistry, Multidisciplinary，这不是中科院分区声明。本次数据量以实际下载文件为准，均使用全量有效记录。三个任务属于药物研发的理化性质预测，结果不能解释为靶点验证或临床证据。来源：https://pubmed.ncbi.nlm.nih.gov/29629118/；https://www.rsc.org/publishing/journals/journal-metrics；data/*/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本次用 ECFP4 指纹训练 RF 和 KRR。ECFP 的半径是2，向量长度是1024。GraphConv 使用 DeepChem 的 ConvMolFeaturizer，每个原子75维输入特征，两层128维图卷积和256维稠密层。均值基线只使用训练集标签均值，用来判断模型是否学到有效信息。右侧为论文原始表示方式示意图，完整保留；我们没有测试其中的库仑矩阵、网格特征、对称函数和Weave模型。图源：https://arxiv.org/abs/1703.00564v3，p.17，Figure 5；作者署名 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实验使用随机80/10/10划分，种子123、456、789。不同随机划分可以让同一骨架出现在训练和测试中，所以测试更接近同分布预测。ESOL扩展使用DeepChem确定性骨架划分，三个种子只改变学习器随机性，不产生三个独立测试集。该扩展不是原论文理化性质图的原协议。所有划分都保存了源行索引，并独立检查结构和骨架交集。图源：https://arxiv.org/abs/1703.00564v3，p.13，Figure 3，Wu et al.，CC BY-NC 3.0。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实验配置在运行前保存在experiment.json，后续所有运行校验同一配置哈希。原论文采用超参数优化，本次使用固定DeepChem预设，不做20轮高斯过程搜索。最后100 epoch固定作为GraphConv结果，不根据测试集挑选检查点。目标标准化仅拟合训练集，再逆变换预测到原始单位。使用DeepChem2.8.0、TensorFlow2.15.1和CPU，因此只能描述性能量级与排序，不能把差异全部归因于算法。来源：experiment.json；results*/provenance.json；https://arxiv.org/abs/1703.00564v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每个单元格都是三次独立随机划分测试RMSE的均值加样本标准差，标准差分母为n-1。不同数据集使用不同物理单位，不能跨行比较数值大小。每次训练都保留源行、SMILES、预测值和真实值，verify_results.py独立重算全部指标。均值基线只拟合训练标签。下页开始逐数据集对照论文原始结果。来源：verification/summary.csv；verification/run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OL主实验使用全量1128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eSolv主实验使用全量642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pophilicity主实验使用全量4200条数据，随机80/10/10划分。图中比较三个对应学习模型的均值，深绿色是本次固定参数实验，灰紫色是作者稿Table8原始报告。误差条没有画在这张均值图中，精确的标准差列在本页下方及总表。本次未进行原论文的超参数优化，版本和种子也不同，因此图形差距只用于描述，不构成显著性或优越性声明。来源：verification/summary.json；https://arxiv.org/abs/1703.00564v3 Table8 p.51。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项额外诊断比较相同模型在随机划分和骨架划分下的误差。骨架划分保持测试骨架不出现在训练中，评估的外推难度更高，但单次确定性划分也改变了标签分布。三个种子不是三个独立骨架划分，不能据此推断泛化分布的置信区间。KRR在该骨架测试集的RMSE高于训练均值基线，是必须报告的负结果。此扩展不属于原论文Fig.12的随机理化性质比较。来源：verification/split-audits.json、results/esol/scaffold/*/split-audi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图中展示三种随机划分的验证集RMSE，每10个epoch记录一次，所有数值都已逆变换为原始单位。最终报告固定使用100 epoch，没有在最低验证误差点早停，也没有看测试集选择模型。验证曲线的波动以及种子差异提醒我们，单次训练不能代表稳定结论。这里没有把不同单位的三个数据集绘在同一纵轴上。来源：results/esol/random/{123,456,789}/gc/learning-curve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脚本没有导入训练脚本，也没有调用其指标函数，而是用Python标准库从每个预测CSV重算RMSE、MAE和R²，再匹配原始下载文件中的标签和SMILES。它检查源行完整覆盖且分区不交叉、标准化只拟合训练集、预测有限、GraphConv完成100 epoch。重复性测试比较首次预实验与主实验相同ESOL种子的完整预测文件。所有数值校验属于这批固定文件，不能替代独立外部数据验证。来源：verify_results.py、verification/runs.json、verification/summary.json。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本次使用jmiao24/Paper2Agent仓库中的Paper2Skill分支，不运行多代理Paper2MCP工作流。主代理预先审阅65页作者稿，Pi在GUI内真实执行prepare、extract、reuse-review、build和strict verify，把审查依据和限制带入新包。复杂表格采用原图，核心Table8逐行转录并核验。上游Windows路径检查把反斜杠与正斜杠清单比较，导致合法文件报Unexpected；临时副本将relative path改为as_posix，一行兼容补丁后严格校验通过。不是未经修改的全流程通过声明。来源：https://github.com/jmiao24/Paper2Agent commit8c2d059165ef8cdcb70dbea76655b9c2b55b38e6；gui-test/paper2agent/moleculenet-review/verification.json。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这里测试OpenDCAI/Paper2Any固定提交中的两个原生文本组件，outline_agent和outline_refine_agent，都使用simple mode、DeepSeek deepseek-flash真实API调用。没有启动自主子代理。输入是Paper2Agent转出的正文及独立核验结果，输出10页结构化大纲，再根据明确反馈修订。校验确认页数、必需字段、无虚构图片引用且修订不是原样返回。我们额外审查科学内容。进一步测试原生结构化幻灯片服务和导出路线：状态failed，处理10页，原生导出完成false。默认模板、API失败或输出截断都不能当作成功。未覆盖MinerU、图片生成、SAM、完整Web平台。本说明稿由独立制版脚本据真实结果制作，不冒充上游PPT导出。上游两处明文密钥日志已在测试副本脱敏。来源：https://github.com/OpenDCAI/Paper2Any commitb538531e25798d9b9d41afd5fa93c9222949b5a5；gui-test/paper2any/result.json和frontend/result.json。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截图来自本机Electron窗口，使用隔离测试目录，没有模拟API回包。确认准确模型后，通过技能快捷补全和Enter发送自然语言任务，Pi真实调用上游脚本并写入文件。首轮因测试配置采用旧环境变量语法出现401，修正为新版插值后GUI连接测试通过，同一会话重试。运行中左侧可见任务。右侧报告预览和文件切换以acceptance.json记录为准。出现的缺陷和未测功能不应被截图掩盖。来源：gui-test/acceptance.json；gui-test/evidence；对应Pi JSONL会话。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来自这批保存并核验的真实实验。GraphConv在ESOL、Lipophilicity上的随机测试均值优于本次RF和KRR。这与论文强调可学习表示的方向相符，但不证明所有场景图模型都优越。骨架划分负结果和协议差异都保留。两个工具分别帮助建立可检索证据包和生成说明大纲，数字仍依赖实际训练与独立审计。本次没有覆盖全部17个数据集、所有算法、原始环境或完整多模态平台，因此应称为有明确范围的现代环境复现与组件验收。研究性质结果，不用于临床或患者决策。来源：verification/summary.json；两个上游仓库与验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f801b1a571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0e07f8b5f4f10" /><Relationship Type="http://schemas.openxmlformats.org/officeDocument/2006/relationships/slideLayout" Target="/ppt/slideLayouts/slideLayout1.xml" Id="R2c3af809ecdd4b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af809ecdd4b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457904c5024a80" /><Relationship Type="http://schemas.openxmlformats.org/officeDocument/2006/relationships/notesSlide" Target="/ppt/notesSlides/notesSlide1.xml" Id="Ra9f668e15b0149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bd6f6e5904d8c" /><Relationship Type="http://schemas.openxmlformats.org/officeDocument/2006/relationships/notesSlide" Target="/ppt/notesSlides/notesSlide2.xml" Id="R9cc5ba7a878a46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fe090e31c4156" /><Relationship Type="http://schemas.openxmlformats.org/officeDocument/2006/relationships/image" Target="/ppt/media/image.jpeg" Id="R46e62bf60cb94dcc" /><Relationship Type="http://schemas.openxmlformats.org/officeDocument/2006/relationships/notesSlide" Target="/ppt/notesSlides/notesSlide3.xml" Id="Re278f6211a8441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136da699749cb" /><Relationship Type="http://schemas.openxmlformats.org/officeDocument/2006/relationships/image" Target="/ppt/media/image2.jpeg" Id="R743d9ecf4b78418b" /><Relationship Type="http://schemas.openxmlformats.org/officeDocument/2006/relationships/notesSlide" Target="/ppt/notesSlides/notesSlide4.xml" Id="R041fbcdde3ca47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4d26bbd884c9e" /><Relationship Type="http://schemas.openxmlformats.org/officeDocument/2006/relationships/notesSlide" Target="/ppt/notesSlides/notesSlide5.xml" Id="R334f0d519d96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15e33e5664a17" /><Relationship Type="http://schemas.openxmlformats.org/officeDocument/2006/relationships/notesSlide" Target="/ppt/notesSlides/notesSlide6.xml" Id="R2a98f5e371c145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17d3461be4d5e" /><Relationship Type="http://schemas.openxmlformats.org/officeDocument/2006/relationships/chart" Target="/ppt/slides/charts/chart1.xml" Id="R697094b2fcf14bd0" /><Relationship Type="http://schemas.openxmlformats.org/officeDocument/2006/relationships/notesSlide" Target="/ppt/notesSlides/notesSlide7.xml" Id="Re0dd98371f2e4f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7529240e946dd" /><Relationship Type="http://schemas.openxmlformats.org/officeDocument/2006/relationships/chart" Target="/ppt/slides/charts/chart2.xml" Id="R28bb30ea9e094b74" /><Relationship Type="http://schemas.openxmlformats.org/officeDocument/2006/relationships/notesSlide" Target="/ppt/notesSlides/notesSlide8.xml" Id="R6f62173cc690481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0bfc8c82b495e" /><Relationship Type="http://schemas.openxmlformats.org/officeDocument/2006/relationships/chart" Target="/ppt/slides/charts/chart3.xml" Id="R65f2878112de4fc6" /><Relationship Type="http://schemas.openxmlformats.org/officeDocument/2006/relationships/notesSlide" Target="/ppt/notesSlides/notesSlide9.xml" Id="Ra464ac988dae4e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2d153cf424fff" /><Relationship Type="http://schemas.openxmlformats.org/officeDocument/2006/relationships/chart" Target="/ppt/slides/charts/chart4.xml" Id="R3f25192184c74bec" /><Relationship Type="http://schemas.openxmlformats.org/officeDocument/2006/relationships/notesSlide" Target="/ppt/notesSlides/notesSlide10.xml" Id="Ref86099eedd44a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17116734946b0" /><Relationship Type="http://schemas.openxmlformats.org/officeDocument/2006/relationships/chart" Target="/ppt/slides/charts/chart5.xml" Id="Ra6c7e7f09ca44be7" /><Relationship Type="http://schemas.openxmlformats.org/officeDocument/2006/relationships/notesSlide" Target="/ppt/notesSlides/notesSlide11.xml" Id="Rf1cd30e5b3494c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80446f98f4701" /><Relationship Type="http://schemas.openxmlformats.org/officeDocument/2006/relationships/notesSlide" Target="/ppt/notesSlides/notesSlide12.xml" Id="Rb72a80f592b042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556d0d8f54f6b" /><Relationship Type="http://schemas.openxmlformats.org/officeDocument/2006/relationships/notesSlide" Target="/ppt/notesSlides/notesSlide13.xml" Id="Ra0e0cb9ee80e4d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484e727764c6f" /><Relationship Type="http://schemas.openxmlformats.org/officeDocument/2006/relationships/notesSlide" Target="/ppt/notesSlides/notesSlide14.xml" Id="R03b2b47fc2a5406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9a240f5934cb1" /><Relationship Type="http://schemas.openxmlformats.org/officeDocument/2006/relationships/image" Target="/ppt/media/image3.jpeg" Id="R05f3bdd8b03d44d3" /><Relationship Type="http://schemas.openxmlformats.org/officeDocument/2006/relationships/notesSlide" Target="/ppt/notesSlides/notesSlide15.xml" Id="Rb5a05d133755449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54ec795254ff7" /><Relationship Type="http://schemas.openxmlformats.org/officeDocument/2006/relationships/notesSlide" Target="/ppt/notesSlides/notesSlide16.xml" Id="Ra5f22398329a4d9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1.18956710186</c:v>
                </c:pt>
                <c:pt idx="1">
                  <c:v>1.48467915922</c:v>
                </c:pt>
                <c:pt idx="2">
                  <c:v>1.04629004051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1.07</c:v>
                </c:pt>
                <c:pt idx="1">
                  <c:v>1.53</c:v>
                </c:pt>
                <c:pt idx="2">
                  <c:v>0.97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(log10(mol/L))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2.06130160569</c:v>
                </c:pt>
                <c:pt idx="1">
                  <c:v>1.99888154466</c:v>
                </c:pt>
                <c:pt idx="2">
                  <c:v>2.15118478517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2.03</c:v>
                </c:pt>
                <c:pt idx="1">
                  <c:v>2.11</c:v>
                </c:pt>
                <c:pt idx="2">
                  <c:v>1.4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(kcal/mol)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本次复现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0.838405701292</c:v>
                </c:pt>
                <c:pt idx="1">
                  <c:v>0.835383692489</c:v>
                </c:pt>
                <c:pt idx="2">
                  <c:v>0.704098892239</c:v>
                </c:pt>
              </c:numCache>
            </c:numRef>
          </c:val>
        </c:ser>
        <c:ser>
          <c:idx val="1"/>
          <c:order val="1"/>
          <c:tx>
            <c:v>论文原始</c:v>
          </c:tx>
          <c:spPr>
            <a:solidFill xmlns:a="http://schemas.openxmlformats.org/drawingml/2006/main">
              <a:srgbClr val="817BAA"/>
            </a:solidFill>
          </c:spPr>
          <c:cat>
            <c:strRef>
              <c:f>'Chart Data'!$C$2:$C$4</c:f>
              <c:strCache>
                <c:ptCount val="3"/>
                <c:pt idx="0">
                  <c:v>RF</c:v>
                </c:pt>
                <c:pt idx="1">
                  <c:v>KRR</c:v>
                </c:pt>
                <c:pt idx="2">
                  <c:v>GraphConv</c:v>
                </c:pt>
              </c:strCache>
            </c:strRef>
          </c:cat>
          <c:val>
            <c:numRef>
              <c:f>'Chart Data'!$D$2:$D$4</c:f>
              <c:numCache>
                <c:formatCode>0.000</c:formatCode>
                <c:ptCount val="3"/>
                <c:pt idx="0">
                  <c:v>0.876</c:v>
                </c:pt>
                <c:pt idx="1">
                  <c:v>0.899</c:v>
                </c:pt>
                <c:pt idx="2">
                  <c:v>0.655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(logD)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Random</c:v>
          </c:tx>
          <c:spPr>
            <a:solidFill xmlns:a="http://schemas.openxmlformats.org/drawingml/2006/main">
              <a:srgbClr val="12776F"/>
            </a:solidFill>
          </c:spPr>
          <c:cat>
            <c:strRef>
              <c:f>'Chart Data'!$A$2:$A$5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Data'!$B$2:$B$5</c:f>
              <c:numCache>
                <c:formatCode>0.000</c:formatCode>
                <c:ptCount val="4"/>
                <c:pt idx="0">
                  <c:v>2.13736758674</c:v>
                </c:pt>
                <c:pt idx="1">
                  <c:v>1.18956710186</c:v>
                </c:pt>
                <c:pt idx="2">
                  <c:v>1.48467915922</c:v>
                </c:pt>
                <c:pt idx="3">
                  <c:v>1.04629004051</c:v>
                </c:pt>
              </c:numCache>
            </c:numRef>
          </c:val>
        </c:ser>
        <c:ser>
          <c:idx val="1"/>
          <c:order val="1"/>
          <c:tx>
            <c:v>Scaffold</c:v>
          </c:tx>
          <c:spPr>
            <a:solidFill xmlns:a="http://schemas.openxmlformats.org/drawingml/2006/main">
              <a:srgbClr val="BF703E"/>
            </a:solidFill>
          </c:spPr>
          <c:cat>
            <c:strRef>
              <c:f>'Chart Data'!$C$2:$C$5</c:f>
              <c:strCache>
                <c:ptCount val="4"/>
                <c:pt idx="0">
                  <c:v>均值基线</c:v>
                </c:pt>
                <c:pt idx="1">
                  <c:v>RF</c:v>
                </c:pt>
                <c:pt idx="2">
                  <c:v>KRR</c:v>
                </c:pt>
                <c:pt idx="3">
                  <c:v>GraphConv</c:v>
                </c:pt>
              </c:strCache>
            </c:strRef>
          </c:cat>
          <c:val>
            <c:numRef>
              <c:f>'Chart Data'!$D$2:$D$5</c:f>
              <c:numCache>
                <c:formatCode>0.000</c:formatCode>
                <c:ptCount val="4"/>
                <c:pt idx="0">
                  <c:v>2.31497289567</c:v>
                </c:pt>
                <c:pt idx="1">
                  <c:v>1.69130503996</c:v>
                </c:pt>
                <c:pt idx="2">
                  <c:v>2.47233263232</c:v>
                </c:pt>
                <c:pt idx="3">
                  <c:v>1.36998991834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D35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6DF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58696D"/>
                    </a:solidFill>
                    <a:latin typeface="Noto Sans SC"/>
                    <a:ea typeface="Noto Sans SC"/>
                    <a:cs typeface="Noto Sans SC"/>
                  </a:rPr>
                  <a:t>测试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58696D"/>
                  </a:solidFill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seed 123</c:v>
          </c:tx>
          <c:spPr>
            <a:ln xmlns:a="http://schemas.openxmlformats.org/drawingml/2006/main" w="28575">
              <a:solidFill>
                <a:srgbClr val="12776F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2776F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Data'!$B$2:$B$11</c:f>
              <c:numCache>
                <c:formatCode>0.000</c:formatCode>
                <c:ptCount val="10"/>
                <c:pt idx="0">
                  <c:v>1.69019476332</c:v>
                </c:pt>
                <c:pt idx="1">
                  <c:v>1.46074320837</c:v>
                </c:pt>
                <c:pt idx="2">
                  <c:v>1.42869325724</c:v>
                </c:pt>
                <c:pt idx="3">
                  <c:v>1.25500990082</c:v>
                </c:pt>
                <c:pt idx="4">
                  <c:v>1.18509097932</c:v>
                </c:pt>
                <c:pt idx="5">
                  <c:v>1.11638010775</c:v>
                </c:pt>
                <c:pt idx="6">
                  <c:v>1.05879517915</c:v>
                </c:pt>
                <c:pt idx="7">
                  <c:v>1.07663865439</c:v>
                </c:pt>
                <c:pt idx="8">
                  <c:v>1.08468356529</c:v>
                </c:pt>
                <c:pt idx="9">
                  <c:v>1.004742501</c:v>
                </c:pt>
              </c:numCache>
            </c:numRef>
          </c:val>
        </c:ser>
        <c:ser>
          <c:idx val="1"/>
          <c:order val="1"/>
          <c:tx>
            <c:v>seed 456</c:v>
          </c:tx>
          <c:spPr>
            <a:ln xmlns:a="http://schemas.openxmlformats.org/drawingml/2006/main" w="28575">
              <a:solidFill>
                <a:srgbClr val="817BAA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817BAA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Data'!$D$2:$D$11</c:f>
              <c:numCache>
                <c:formatCode>0.000</c:formatCode>
                <c:ptCount val="10"/>
                <c:pt idx="0">
                  <c:v>1.65983383969</c:v>
                </c:pt>
                <c:pt idx="1">
                  <c:v>1.5088467901</c:v>
                </c:pt>
                <c:pt idx="2">
                  <c:v>1.43151131992</c:v>
                </c:pt>
                <c:pt idx="3">
                  <c:v>1.34543834786</c:v>
                </c:pt>
                <c:pt idx="4">
                  <c:v>1.2442403053</c:v>
                </c:pt>
                <c:pt idx="5">
                  <c:v>1.19449659073</c:v>
                </c:pt>
                <c:pt idx="6">
                  <c:v>1.13855132883</c:v>
                </c:pt>
                <c:pt idx="7">
                  <c:v>1.16910439013</c:v>
                </c:pt>
                <c:pt idx="8">
                  <c:v>1.1595606466</c:v>
                </c:pt>
                <c:pt idx="9">
                  <c:v>1.11689581157</c:v>
                </c:pt>
              </c:numCache>
            </c:numRef>
          </c:val>
        </c:ser>
        <c:ser>
          <c:idx val="2"/>
          <c:order val="2"/>
          <c:tx>
            <c:v>seed 789</c:v>
          </c:tx>
          <c:spPr>
            <a:ln xmlns:a="http://schemas.openxmlformats.org/drawingml/2006/main" w="28575">
              <a:solidFill>
                <a:srgbClr val="BF703E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BF703E"/>
              </a:solidFill>
            </c:spPr>
          </c:marker>
          <c:cat>
            <c:numRef>
              <c:f>'Chart Data'!$E$2:$E$11</c:f>
              <c:numCache>
                <c:formatCode>General</c:formatCode>
                <c:ptCount val="10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3">
                  <c:v>40</c:v>
                </c:pt>
                <c:pt idx="4">
                  <c:v>50</c:v>
                </c:pt>
                <c:pt idx="5">
                  <c:v>60</c:v>
                </c:pt>
                <c:pt idx="6">
                  <c:v>70</c:v>
                </c:pt>
                <c:pt idx="7">
                  <c:v>80</c:v>
                </c:pt>
                <c:pt idx="8">
                  <c:v>90</c:v>
                </c:pt>
                <c:pt idx="9">
                  <c:v>100</c:v>
                </c:pt>
              </c:numCache>
            </c:numRef>
          </c:cat>
          <c:val>
            <c:numRef>
              <c:f>'Chart Data'!$F$2:$F$11</c:f>
              <c:numCache>
                <c:formatCode>0.000</c:formatCode>
                <c:ptCount val="10"/>
                <c:pt idx="0">
                  <c:v>1.65118654336</c:v>
                </c:pt>
                <c:pt idx="1">
                  <c:v>1.50554723492</c:v>
                </c:pt>
                <c:pt idx="2">
                  <c:v>1.46492814422</c:v>
                </c:pt>
                <c:pt idx="3">
                  <c:v>1.41689392513</c:v>
                </c:pt>
                <c:pt idx="4">
                  <c:v>1.28933400891</c:v>
                </c:pt>
                <c:pt idx="5">
                  <c:v>1.1543539421</c:v>
                </c:pt>
                <c:pt idx="6">
                  <c:v>1.16240684411</c:v>
                </c:pt>
                <c:pt idx="7">
                  <c:v>1.11540615762</c:v>
                </c:pt>
                <c:pt idx="8">
                  <c:v>1.08453452353</c:v>
                </c:pt>
                <c:pt idx="9">
                  <c:v>1.00143075016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SC"/>
                  <a:ea typeface="Noto Sans SC"/>
                  <a:cs typeface="Noto Sans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训练 epoch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6DFDC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latin typeface="Noto Sans SC"/>
                    <a:ea typeface="Noto Sans SC"/>
                    <a:cs typeface="Noto Sans SC"/>
                  </a:rPr>
                  <a:t>验证 RMSE (log₁₀(mol/L))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latin typeface="Noto Sans SC"/>
                  <a:ea typeface="Noto Sans SC"/>
                  <a:cs typeface="Noto Sans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Noto Sans SC"/>
                <a:ea typeface="Noto Sans SC"/>
                <a:cs typeface="Noto Sans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4EE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D35"/>
              </a:solidFill>
              <a:latin typeface="Noto Sans SC"/>
              <a:ea typeface="Noto Sans SC"/>
              <a:cs typeface="Noto Sans SC"/>
            </a:defRPr>
          </a:pPr>
        </a:p>
      </c:txPr>
    </c:legend>
    <c:plotVisOnly val="1"/>
  </c:chart>
  <c:spPr>
    <a:solidFill xmlns:a="http://schemas.openxmlformats.org/drawingml/2006/main">
      <a:srgbClr val="F6F4EE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9AEDB-58E1-482A-BF6D-EF8526F6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61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MoleculeNet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10A30-97E1-49A6-A2CF-D3C68E5FE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670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3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分子性质预测复现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6215E-ACC4-4323-9156-8D6EE262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B6D6CF"/>
                </a:solidFill>
                <a:latin typeface="Noto Sans SC"/>
                <a:ea typeface="Noto Sans SC"/>
                <a:cs typeface="Noto Sans SC"/>
              </a:rPr>
              <a:t>ESOL、FreeSolv 与 Lipophilicity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74F20-1D89-47D8-9C85-CFCF0050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Pi GUI 实测  /  DeepSeek V4.1 Flash</a:t>
            </a:r>
          </a:p>
          <a:p xmlns:a="http://schemas.openxmlformats.org/drawingml/2006/main">
            <a:pPr>
              <a:def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9D0D1"/>
                </a:solidFill>
                <a:latin typeface="Noto Sans SC"/>
                <a:ea typeface="Noto Sans SC"/>
                <a:cs typeface="Noto Sans SC"/>
              </a:rPr>
              <a:t>2026 年 9 月 18 日</a:t>
            </a:r>
          </a:p>
        </p:txBody>
      </p:sp>
    </p:spTree>
    <p:extLst>
      <p:ext uri="{BB962C8B-B14F-4D97-AF65-F5344CB8AC3E}">
        <p14:creationId xmlns:p14="http://schemas.microsoft.com/office/powerpoint/2010/main" val="917383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B6B00-0272-48BB-9CE2-CE33BE3E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研究对象与复现范围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5B512-AD38-48BE-A1AD-2E4332D9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论文：Wu 等，Chemical Science 9, 513–530 (2018)；JCR Q1，非中科院分区声明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5CB732-7F86-4E13-9481-680BD204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90750"/>
                <a:gridCol w="1714500"/>
                <a:gridCol w="4000500"/>
                <a:gridCol w="306705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样本数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预测目标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误差单位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1,128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水溶解度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log₁₀(mol/L)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642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水合自由能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4,200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脂溶性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1DD33-99B7-4840-935F-FEA19FBC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387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3 个数据集，4 个模型，3 个随机种子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F3748-1EB9-4559-A3E3-2BF1DCE3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另加 ESOL 骨架划分诊断，共 48 次真实训练与评估</a:t>
            </a:r>
          </a:p>
        </p:txBody>
      </p:sp>
    </p:spTree>
    <p:extLst>
      <p:ext uri="{BB962C8B-B14F-4D97-AF65-F5344CB8AC3E}">
        <p14:creationId xmlns:p14="http://schemas.microsoft.com/office/powerpoint/2010/main" val="9656752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F59A6-814A-43EC-BBC0-CC0D2CEF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固定指纹与可学习图表示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D20DC-79D4-4CAB-B383-97E7738E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Fig.5，CC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B5A24-0FD0-4D1B-BB9E-2F9A4B5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AC85B-CCA7-40BB-AC35-57D0B7B6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RF / KRR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19FC-FB8B-406C-ADC4-137CEB40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524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ECFP4：半径 2，1024 bits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RF：500 棵树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KRR：RBF 核，固定超参数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22FDF-CC25-47AC-9F72-443230C2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GraphConv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4C854-9060-4E00-AD66-358BB477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5524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75 维原子特征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图卷积 [128, 128]，稠密层 256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100 epochs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62bf60cb94dcc"/>
          <a:stretch xmlns:a="http://schemas.openxmlformats.org/drawingml/2006/main"/>
        </p:blipFill>
        <p:spPr>
          <a:xfrm xmlns:a="http://schemas.openxmlformats.org/drawingml/2006/main">
            <a:off x="7443834" y="1314450"/>
            <a:ext cx="3200307" cy="4829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00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F934BE-FE3C-4B90-B9F4-248F97AD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随机划分与骨架划分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8B211-ABA6-4054-97CD-2C7A3B65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图：Wu et al.，MoleculeNet 作者稿 Fig.3，CC BY-NC 3.0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CF22F-D28C-4F25-AEDD-66B8885C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3d9ecf4b78418b"/>
          <a:stretch xmlns:a="http://schemas.openxmlformats.org/drawingml/2006/main"/>
        </p:blipFill>
        <p:spPr>
          <a:xfrm xmlns:a="http://schemas.openxmlformats.org/drawingml/2006/main">
            <a:off x="647700" y="1362934"/>
            <a:ext cx="4114800" cy="478935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80CEF-3529-428D-B78B-F4F37B51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主实验：random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1D73D-6EDC-49B2-A47B-31464AF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3837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训练 80%  /  验证 10%  /  测试 10%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三个种子改变样本分配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允许相似骨架跨越分区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3667DE-EB0D-41A5-B756-A60CA8C7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94335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扩展实验：scaffold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B370E9-EEF8-465D-B0BB-3C298BA1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581525"/>
            <a:ext cx="5810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仅 ESOL，骨架不跨分区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三个种子的分区相同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用于检查分布外预测的敏感性</a:t>
            </a:r>
          </a:p>
        </p:txBody>
      </p:sp>
    </p:spTree>
    <p:extLst>
      <p:ext uri="{BB962C8B-B14F-4D97-AF65-F5344CB8AC3E}">
        <p14:creationId xmlns:p14="http://schemas.microsoft.com/office/powerpoint/2010/main" val="11431477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EC6B9-F645-4580-9622-3010F3DF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固定协议与原论文差异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0187C-9284-4340-B2EC-22AE98C5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协议：experiment.json；环境：DeepChem 2.8.0 / TensorFlow 2.15.1 / Windows 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B1B359-9C13-4BE8-8E9B-226EBB9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972800" cy="4457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8401050"/>
              </a:tblGrid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项目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本次设置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随机种子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123、456、789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[128,128]；dense 256；batch 128；lr 0.0005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训练终点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固定 100 epochs，不按测试集挑选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RBF；alpha 0.001；gamma 1/1024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标签处理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仅训练集拟合标准化，预测后逆变换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3681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未复刻项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原始划分索引、旧环境、超参数搜索、全部模型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820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D5398-471B-49EC-B328-7145838D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随机划分的测试误差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AAA11-B2AA-4A17-B36F-E864FB5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BD92E-1145-4A5E-B750-50A56C0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90675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14600"/>
                <a:gridCol w="2114550"/>
                <a:gridCol w="2114550"/>
                <a:gridCol w="2114550"/>
                <a:gridCol w="2114550"/>
              </a:tblGrid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数据集 / 单位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均值基线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RF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KRR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GraphConv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log10(mol/L)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2.137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1.190 ± 0.159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1.485 ± 0.119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1.046 ± 0.106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FreeSolv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kcal/mol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3.963 ± 0.473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2.061 ± 0.664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1.999 ± 0.410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2.151 ± 0.232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Lipophilicity</a:t>
                      </a:r>
                    </a:p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logD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1.169 ± 0.014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0.838 ± 0.011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0.835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0.704 ± 0.016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EB61A-C73A-4497-A4D0-71B4F488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均值 ± 样本标准差，n = 3；RMSE 越低越好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9C7FE-04B5-41B8-82EE-F99C6175B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各数据集单位不同，数值大小不能跨行直接比较</a:t>
            </a:r>
          </a:p>
        </p:txBody>
      </p:sp>
    </p:spTree>
    <p:extLst>
      <p:ext uri="{BB962C8B-B14F-4D97-AF65-F5344CB8AC3E}">
        <p14:creationId xmlns:p14="http://schemas.microsoft.com/office/powerpoint/2010/main" val="2007607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7DE19-A670-4772-AE2E-22530138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A245E-3939-4A25-B78A-6596617E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53AE6-6C10-485C-B676-62E6A4B53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97094b2fcf14bd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0CF4A6-2783-44DB-97E0-A6D6842A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0.159，KRR 0.119，GraphConv 0.106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64C5F-0E73-474C-9AEA-A62F198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RMSE：2.137 ± 0.016</a:t>
            </a:r>
          </a:p>
        </p:txBody>
      </p:sp>
    </p:spTree>
    <p:extLst>
      <p:ext uri="{BB962C8B-B14F-4D97-AF65-F5344CB8AC3E}">
        <p14:creationId xmlns:p14="http://schemas.microsoft.com/office/powerpoint/2010/main" val="4926171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2F13F-7A4E-4CE9-B1CE-F0A6D424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FreeSolv：本次结果与论文参考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EA5EE-1E79-4606-A835-A993B2C3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68285-B332-484C-A446-7D5BBAC4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bb30ea9e094b7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C99C-2004-4AF3-A907-1F7F050C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0.664，KRR 0.410，GraphConv 0.232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71469-E4C6-4E24-9182-8A5C8A7E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RMSE：3.963 ± 0.473</a:t>
            </a:r>
          </a:p>
        </p:txBody>
      </p:sp>
    </p:spTree>
    <p:extLst>
      <p:ext uri="{BB962C8B-B14F-4D97-AF65-F5344CB8AC3E}">
        <p14:creationId xmlns:p14="http://schemas.microsoft.com/office/powerpoint/2010/main" val="1017793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58B78-1AA3-4408-8307-59675A35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Lipophilicity：本次结果与论文参考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60F3F-99CA-48BE-84D3-6D87A515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论文参考：作者稿 Table 8，p.51；本次：verification/summary.json；协议不完全相同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01E41-D491-4FC6-B908-41316A9E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09600" y="1381125"/>
          <a:ext xmlns:a="http://schemas.openxmlformats.org/drawingml/2006/main" cx="1083945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f2878112de4fc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E3F07B-4651-49DD-95C7-DD2F91D4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本次 SD：RF 0.011，KRR 0.016，GraphConv 0.016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10E8A-99EE-4DDC-B371-773CCA9C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训练均值基线 RMSE：1.169 ± 0.014</a:t>
            </a:r>
          </a:p>
        </p:txBody>
      </p:sp>
    </p:spTree>
    <p:extLst>
      <p:ext uri="{BB962C8B-B14F-4D97-AF65-F5344CB8AC3E}">
        <p14:creationId xmlns:p14="http://schemas.microsoft.com/office/powerpoint/2010/main" val="570110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093EB-B5CE-4311-BD4A-E6DF7B1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骨架划分提高了预测难度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1882F-0240-46DD-87EE-EB0F9751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额外诊断：同一骨架分区，三个学习器种子；不能当作三折交叉验证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22F2D-ED42-4172-BAA4-BB3AB10A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09600" y="1495425"/>
          <a:ext xmlns:a="http://schemas.openxmlformats.org/drawingml/2006/main" cx="10839450" cy="3829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25192184c74be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E02EA-D191-4657-91DD-8933EEEAE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KRR 的骨架测试误差高于均值基线，不能只报告随机划分的成绩</a:t>
            </a:r>
          </a:p>
        </p:txBody>
      </p:sp>
    </p:spTree>
    <p:extLst>
      <p:ext uri="{BB962C8B-B14F-4D97-AF65-F5344CB8AC3E}">
        <p14:creationId xmlns:p14="http://schemas.microsoft.com/office/powerpoint/2010/main" val="14306620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A8B0A-EDDE-4B2E-A3EA-35A9F12C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ESOL 图卷积的验证误差轨迹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00081-4A3A-41FD-BF8D-1693CF17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869328-5F33-4735-90F8-9AF95C85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19125" y="1447800"/>
          <a:ext xmlns:a="http://schemas.openxmlformats.org/drawingml/2006/main" cx="10829925" cy="4133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c7e7f09ca44b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E6A1F-457C-44EF-A0FD-46D9154D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统一报告第 100 个 epoch，不使用测试集选择检查点</a:t>
            </a:r>
          </a:p>
        </p:txBody>
      </p:sp>
    </p:spTree>
    <p:extLst>
      <p:ext uri="{BB962C8B-B14F-4D97-AF65-F5344CB8AC3E}">
        <p14:creationId xmlns:p14="http://schemas.microsoft.com/office/powerpoint/2010/main" val="1397750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F703A-61A0-4646-986A-9313B834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结果可追溯到每个分子的预测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9E8B0A-9157-4F64-9E21-323F71AD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本次实验：verification/summary.json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97160-1ECA-4C53-8681-DB623D73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514475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924800"/>
              </a:tblGrid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证据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本次检查结果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完整实验矩阵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48 / 48 个运行，全部存在真实预测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数据与分区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源文件 SHA-256、逐行标签、分区覆盖与交集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指标计算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独立重算 RMSE / MAE / R²，与保存值一致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训练过程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仅训练集标准化；GC 全部完成 100 epochs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6683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ESOL seed 123 重跑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3模型完全一致；RF 最大绝对差 1.78×10⁻¹⁵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F2048-3A06-468D-A675-B2FAB86E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原始失败日志保留，缺失或异常运行直接判为失败</a:t>
            </a:r>
          </a:p>
        </p:txBody>
      </p:sp>
    </p:spTree>
    <p:extLst>
      <p:ext uri="{BB962C8B-B14F-4D97-AF65-F5344CB8AC3E}">
        <p14:creationId xmlns:p14="http://schemas.microsoft.com/office/powerpoint/2010/main" val="2538939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5345B-B088-4C95-B0CD-A622DDF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Paper2Agent：论文阅读包实测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13A74-0E19-4861-A01B-AF477F10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Paper2Agent：固定提交 8c2d059；使用 Paper2Skill，未测试完整 Paper2MCP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7A1A7-FE3D-4471-BCF8-3B3C35AD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57949-6277-4B53-9211-8BD4A709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37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65 页作者稿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D9E6F-192A-46F1-BC4D-F45A41FF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30 个图像资产，1 个核验后的结果 CSV</a:t>
            </a:r>
          </a:p>
          <a:p xmlns:a="http://schemas.openxmlformats.org/drawingml/2006/main">
            <a:pPr>
              <a:def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严格验证通过，状态为 reviewed_with_limitations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3952875"/>
          <a:ext xmlns:a="http://schemas.openxmlformats.org/drawingml/2006/main" cx="10858500" cy="20383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09950"/>
                <a:gridCol w="7448550"/>
              </a:tblGrid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保留的限制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处理方式</a:t>
                      </a:r>
                    </a:p>
                  </a:txBody>
                  <a:tcPr marL="133350" marR="133350" marT="85725" marB="85725">
                    <a:solidFill>
                      <a:srgbClr val="172D35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复杂表格与公式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保留原图，不伪造完整结构化数据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论文与作者稿编号不同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作者稿 Fig.13 对应期刊 Fig.12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  <a:tr h="5095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Windows 路径检查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72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一行路径规范化补丁，明确记录</a:t>
                      </a:r>
                    </a:p>
                  </a:txBody>
                  <a:tcPr marL="133350" marR="133350" marT="85725" marB="8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70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76E10-8BB1-452A-BED3-EE79FAEC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Paper2Any：大纲与结构化路线实测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7017B-79B6-4939-A35C-1E257201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Paper2Any：固定提交 b538531；真实上游调用，未覆盖多模态Web平台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BA5D9-5897-4601-AF2A-9032E257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570ED-82A2-4AA6-B336-534C81B9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10 页大纲，2 次原生流程调用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BF2A3-8113-49E0-8779-E355D2CC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生成 29.2 秒，修订 14.7 秒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模型：DeepSeek V4.1 Flash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9CF81-6AAD-463F-88E8-FC65A000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实际输出章节示例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53736-9672-443C-9845-3CF3A04F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2. 研究背景与动机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3. 总体设计与核心贡献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4. 数据集与任务层次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2E12D-6360-4B2F-98D1-65F56295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结构化导出未通过，保留失败证据，未用默认模板冒充成功</a:t>
            </a:r>
          </a:p>
        </p:txBody>
      </p:sp>
    </p:spTree>
    <p:extLst>
      <p:ext uri="{BB962C8B-B14F-4D97-AF65-F5344CB8AC3E}">
        <p14:creationId xmlns:p14="http://schemas.microsoft.com/office/powerpoint/2010/main" val="5848154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CB757-08E1-4D89-9EA8-84866F6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Pi GUI 的真实执行与文档预览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28B19-311C-4503-AEF5-42BCD4B5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本机真实 Pi GUI 截图；验收范围和异常见 gui-test/acceptance.json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0378B-D2CB-4F5D-8205-8A99E9E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3bdd8b03d44d3"/>
          <a:stretch xmlns:a="http://schemas.openxmlformats.org/drawingml/2006/main"/>
        </p:blipFill>
        <p:spPr>
          <a:xfrm xmlns:a="http://schemas.openxmlformats.org/drawingml/2006/main">
            <a:off x="915637" y="1343025"/>
            <a:ext cx="7046026" cy="4238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CBA92-C7DE-4FE3-81AF-75C2DB3F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52575"/>
            <a:ext cx="2819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实际验证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A914B5-AA85-4E7D-A99A-0B0812CE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28384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准确模型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技能补全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Enter 发送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运行中任务可见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工具回执</a:t>
            </a:r>
          </a:p>
          <a:p xmlns:a="http://schemas.openxmlformats.org/drawingml/2006/main">
            <a:pPr>
              <a:def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文档预览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47E1F-D98D-4D5E-8C5A-50AD2A0D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长会话状态刷新触发 IPC 递归深度错误，稳定性未通过</a:t>
            </a:r>
          </a:p>
        </p:txBody>
      </p:sp>
    </p:spTree>
    <p:extLst>
      <p:ext uri="{BB962C8B-B14F-4D97-AF65-F5344CB8AC3E}">
        <p14:creationId xmlns:p14="http://schemas.microsoft.com/office/powerpoint/2010/main" val="897880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41EC0-603B-4271-8EA9-08CE4BA1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结论与适用边界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78351-64A9-4A7C-B4EE-6F71EDC1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全部结果、源码、协议与限制说明随交付目录保存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7971B-6421-4E74-825B-8DE8A162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58696D"/>
                </a:solidFill>
                <a:latin typeface="Noto Sans SC"/>
                <a:ea typeface="Noto Sans SC"/>
                <a:cs typeface="Noto Sans S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1FAFC1-84B4-4A4D-B418-EA546114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257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实验结论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D615A-EFFF-4373-ACFF-B2D6F1A6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6680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GraphConv 在 ESOL、Lipophilicity 的随机划分中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取得低于本次 RF、KRR 的平均 RMSE。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29962-8BB6-499A-B778-756BB5FF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1062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defRPr>
            </a:pPr>
            <a:r>
              <a:rPr sz="2475" b="1">
                <a:solidFill>
                  <a:srgbClr val="12776F"/>
                </a:solidFill>
                <a:latin typeface="Noto Sans SC"/>
                <a:ea typeface="Noto Sans SC"/>
                <a:cs typeface="Noto Sans SC"/>
              </a:rPr>
              <a:t>可复核范围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C4BA8-3336-4563-87FC-0B49D240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10668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全量数据、固定协议、逐分子预测和独立指标审计</a:t>
            </a:r>
          </a:p>
          <a:p xmlns:a="http://schemas.openxmlformats.org/drawingml/2006/main">
            <a:pPr>
              <a:def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72D35"/>
                </a:solidFill>
                <a:latin typeface="Noto Sans SC"/>
                <a:ea typeface="Noto Sans SC"/>
                <a:cs typeface="Noto Sans SC"/>
              </a:rPr>
              <a:t>保留骨架划分负结果与工具运行中的真实失败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90B84-20F7-4C4A-80C2-9F8782F2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BF703E"/>
                </a:solidFill>
                <a:latin typeface="Noto Sans SC"/>
                <a:ea typeface="Noto Sans SC"/>
                <a:cs typeface="Noto Sans SC"/>
              </a:rPr>
              <a:t>局部现代环境复现，不构成临床有效性证据</a:t>
            </a:r>
          </a:p>
        </p:txBody>
      </p:sp>
    </p:spTree>
    <p:extLst>
      <p:ext uri="{BB962C8B-B14F-4D97-AF65-F5344CB8AC3E}">
        <p14:creationId xmlns:p14="http://schemas.microsoft.com/office/powerpoint/2010/main" val="5749789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2026-09-18T14:49:28.3330000Z</dcterms:created>
  <dcterms:modified xsi:type="dcterms:W3CDTF">2026-09-18T14:49:28.3340000Z</dcterms:modified>
</coreProperties>
</file>