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566a6c639d4e2d" /><Relationship Type="http://schemas.openxmlformats.org/officeDocument/2006/relationships/extended-properties" Target="/docProps/app.xml" Id="R8182470db7a24604" /><Relationship Type="http://schemas.openxmlformats.org/officeDocument/2006/relationships/officeDocument" Target="/ppt/presentation.xml" Id="R2693ec43f3e144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03a63a1324679"/>
  </p:sldMasterIdLst>
  <p:notesMasterIdLst>
    <p:notesMasterId xmlns:r="http://schemas.openxmlformats.org/officeDocument/2006/relationships" r:id="Rfcdddb43bb97462a"/>
  </p:notesMasterIdLst>
  <p:sldIdLst>
    <p:sldId xmlns:r="http://schemas.openxmlformats.org/officeDocument/2006/relationships" id="256" r:id="R680ab68d3ea04ad9"/>
    <p:sldId xmlns:r="http://schemas.openxmlformats.org/officeDocument/2006/relationships" id="257" r:id="R3768f84ead544869"/>
    <p:sldId xmlns:r="http://schemas.openxmlformats.org/officeDocument/2006/relationships" id="258" r:id="R71022d755cfb404d"/>
    <p:sldId xmlns:r="http://schemas.openxmlformats.org/officeDocument/2006/relationships" id="259" r:id="Re2ff334ce6884b1d"/>
    <p:sldId xmlns:r="http://schemas.openxmlformats.org/officeDocument/2006/relationships" id="260" r:id="R80ea72d9822e4333"/>
    <p:sldId xmlns:r="http://schemas.openxmlformats.org/officeDocument/2006/relationships" id="261" r:id="R8509b502e8d44afb"/>
    <p:sldId xmlns:r="http://schemas.openxmlformats.org/officeDocument/2006/relationships" id="262" r:id="R78c6dfd8c5ca450d"/>
    <p:sldId xmlns:r="http://schemas.openxmlformats.org/officeDocument/2006/relationships" id="263" r:id="R1e1fed65840e467a"/>
    <p:sldId xmlns:r="http://schemas.openxmlformats.org/officeDocument/2006/relationships" id="264" r:id="R8dc8b3ba800b49f8"/>
    <p:sldId xmlns:r="http://schemas.openxmlformats.org/officeDocument/2006/relationships" id="265" r:id="R69ea4a900c684382"/>
    <p:sldId xmlns:r="http://schemas.openxmlformats.org/officeDocument/2006/relationships" id="266" r:id="R1664610cfb1f48f5"/>
    <p:sldId xmlns:r="http://schemas.openxmlformats.org/officeDocument/2006/relationships" id="267" r:id="Rb5cd33a73b8f44f9"/>
    <p:sldId xmlns:r="http://schemas.openxmlformats.org/officeDocument/2006/relationships" id="268" r:id="R6b3a5ceef3884800"/>
    <p:sldId xmlns:r="http://schemas.openxmlformats.org/officeDocument/2006/relationships" id="269" r:id="R96df4b2b5f444920"/>
    <p:sldId xmlns:r="http://schemas.openxmlformats.org/officeDocument/2006/relationships" id="270" r:id="Rf59599ca5a3d4388"/>
    <p:sldId xmlns:r="http://schemas.openxmlformats.org/officeDocument/2006/relationships" id="271" r:id="R2c76b6f221a144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e0079a02d34e1d" /><Relationship Type="http://schemas.openxmlformats.org/officeDocument/2006/relationships/slideMaster" Target="/ppt/slideMasters/slideMaster1.xml" Id="Rc9e03a63a1324679" /><Relationship Type="http://schemas.openxmlformats.org/officeDocument/2006/relationships/notesMaster" Target="/ppt/notesMasters/notesMaster1.xml" Id="Rfcdddb43bb97462a" /><Relationship Type="http://schemas.openxmlformats.org/officeDocument/2006/relationships/presProps" Target="/ppt/presProps.xml" Id="R68ac48fb598a440b" /><Relationship Type="http://schemas.openxmlformats.org/officeDocument/2006/relationships/tableStyles" Target="/ppt/tableStyles.xml" Id="R770d56be36b44a11" /><Relationship Type="http://schemas.openxmlformats.org/officeDocument/2006/relationships/slide" Target="/ppt/slides/slide1.xml" Id="R680ab68d3ea04ad9" /><Relationship Type="http://schemas.openxmlformats.org/officeDocument/2006/relationships/slide" Target="/ppt/slides/slide2.xml" Id="R3768f84ead544869" /><Relationship Type="http://schemas.openxmlformats.org/officeDocument/2006/relationships/slide" Target="/ppt/slides/slide3.xml" Id="R71022d755cfb404d" /><Relationship Type="http://schemas.openxmlformats.org/officeDocument/2006/relationships/slide" Target="/ppt/slides/slide4.xml" Id="Re2ff334ce6884b1d" /><Relationship Type="http://schemas.openxmlformats.org/officeDocument/2006/relationships/slide" Target="/ppt/slides/slide5.xml" Id="R80ea72d9822e4333" /><Relationship Type="http://schemas.openxmlformats.org/officeDocument/2006/relationships/slide" Target="/ppt/slides/slide6.xml" Id="R8509b502e8d44afb" /><Relationship Type="http://schemas.openxmlformats.org/officeDocument/2006/relationships/slide" Target="/ppt/slides/slide7.xml" Id="R78c6dfd8c5ca450d" /><Relationship Type="http://schemas.openxmlformats.org/officeDocument/2006/relationships/slide" Target="/ppt/slides/slide8.xml" Id="R1e1fed65840e467a" /><Relationship Type="http://schemas.openxmlformats.org/officeDocument/2006/relationships/slide" Target="/ppt/slides/slide9.xml" Id="R8dc8b3ba800b49f8" /><Relationship Type="http://schemas.openxmlformats.org/officeDocument/2006/relationships/slide" Target="/ppt/slides/slide10.xml" Id="R69ea4a900c684382" /><Relationship Type="http://schemas.openxmlformats.org/officeDocument/2006/relationships/slide" Target="/ppt/slides/slide11.xml" Id="R1664610cfb1f48f5" /><Relationship Type="http://schemas.openxmlformats.org/officeDocument/2006/relationships/slide" Target="/ppt/slides/slide12.xml" Id="Rb5cd33a73b8f44f9" /><Relationship Type="http://schemas.openxmlformats.org/officeDocument/2006/relationships/slide" Target="/ppt/slides/slide13.xml" Id="R6b3a5ceef3884800" /><Relationship Type="http://schemas.openxmlformats.org/officeDocument/2006/relationships/slide" Target="/ppt/slides/slide14.xml" Id="R96df4b2b5f444920" /><Relationship Type="http://schemas.openxmlformats.org/officeDocument/2006/relationships/slide" Target="/ppt/slides/slide15.xml" Id="Rf59599ca5a3d4388" /><Relationship Type="http://schemas.openxmlformats.org/officeDocument/2006/relationships/slide" Target="/ppt/slides/slide16.xml" Id="R2c76b6f221a144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9c09f67e4146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292d3410454070" /><Relationship Type="http://schemas.openxmlformats.org/officeDocument/2006/relationships/notesMaster" Target="/ppt/notesMasters/notesMaster1.xml" Id="R7207fdd61baa44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aaad52ab1a4325" /><Relationship Type="http://schemas.openxmlformats.org/officeDocument/2006/relationships/notesMaster" Target="/ppt/notesMasters/notesMaster1.xml" Id="R88e0bc85014b4e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8d4523e9274ebf" /><Relationship Type="http://schemas.openxmlformats.org/officeDocument/2006/relationships/notesMaster" Target="/ppt/notesMasters/notesMaster1.xml" Id="Rdc23db4c358c48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afab6465084713" /><Relationship Type="http://schemas.openxmlformats.org/officeDocument/2006/relationships/notesMaster" Target="/ppt/notesMasters/notesMaster1.xml" Id="R856f3f0ca01c46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f087110edf480b" /><Relationship Type="http://schemas.openxmlformats.org/officeDocument/2006/relationships/notesMaster" Target="/ppt/notesMasters/notesMaster1.xml" Id="R7c0de11dc5a34c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4431ce6bc9483d" /><Relationship Type="http://schemas.openxmlformats.org/officeDocument/2006/relationships/notesMaster" Target="/ppt/notesMasters/notesMaster1.xml" Id="R993ccb25cd9c49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a44d1eaedb49b0" /><Relationship Type="http://schemas.openxmlformats.org/officeDocument/2006/relationships/notesMaster" Target="/ppt/notesMasters/notesMaster1.xml" Id="R4cb809c999f24e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dcfc708c8a4237" /><Relationship Type="http://schemas.openxmlformats.org/officeDocument/2006/relationships/notesMaster" Target="/ppt/notesMasters/notesMaster1.xml" Id="R8f2dc184bd1740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c0d519761f4732" /><Relationship Type="http://schemas.openxmlformats.org/officeDocument/2006/relationships/notesMaster" Target="/ppt/notesMasters/notesMaster1.xml" Id="Rd1a9c21feb624e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a222fcd1714b7b" /><Relationship Type="http://schemas.openxmlformats.org/officeDocument/2006/relationships/notesMaster" Target="/ppt/notesMasters/notesMaster1.xml" Id="R1be02f360aa94d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bae9a23bdd4300" /><Relationship Type="http://schemas.openxmlformats.org/officeDocument/2006/relationships/notesMaster" Target="/ppt/notesMasters/notesMaster1.xml" Id="R55231681269b41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c61d34f03b4a33" /><Relationship Type="http://schemas.openxmlformats.org/officeDocument/2006/relationships/notesMaster" Target="/ppt/notesMasters/notesMaster1.xml" Id="Re62ebb45cedf43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01e68ddb734949" /><Relationship Type="http://schemas.openxmlformats.org/officeDocument/2006/relationships/notesMaster" Target="/ppt/notesMasters/notesMaster1.xml" Id="R321f466e618a4e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5aeec26d764cc4" /><Relationship Type="http://schemas.openxmlformats.org/officeDocument/2006/relationships/notesMaster" Target="/ppt/notesMasters/notesMaster1.xml" Id="R73ad5d64abb940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500de1b39146e9" /><Relationship Type="http://schemas.openxmlformats.org/officeDocument/2006/relationships/notesMaster" Target="/ppt/notesMasters/notesMaster1.xml" Id="Ra450dd341af14f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7e41d86f9b425f" /><Relationship Type="http://schemas.openxmlformats.org/officeDocument/2006/relationships/notesMaster" Target="/ppt/notesMasters/notesMaster1.xml" Id="Rb78cbe934c0742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本报告解释 MoleculeNet 的一个可在本机执行的子集。论文提出统一分子机器学习基准，本次选择三个理化性质回归数据集，比较传统指纹模型与图卷积，同时检查 Pi 调用 Paper2Agent 和 Paper2Any 的真实工作过程。48 个运行包括 36 个随机划分实验和 12 个 ESOL 骨架划分扩展。所有实验都是现代环境下的局部复现，不能代表完整论文复现。来源：https://pubmed.ncbi.nlm.nih.gov/29629118/；本地 experiment.json、verification/summary.json。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Wu 等在 Chemical Science 发表 MoleculeNet，DOI 10.1039/C7SC02664A。PubMed 收录 PMID 29629118，在线发表于2017年，卷期属于2018年。RSC 当前期刊指标把 Chemical Science 列为 JCR Q1，分类为 Chemistry, Multidisciplinary，这不是中科院分区声明。本次数据量以实际下载文件为准，均使用全量有效记录。三个任务属于药物研发的理化性质预测，结果不能解释为靶点验证或临床证据。来源：https://pubmed.ncbi.nlm.nih.gov/29629118/；https://www.rsc.org/publishing/journals/journal-metrics；data/*/metadata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本次用 ECFP4 指纹训练 RF 和 KRR。ECFP 的半径是2，向量长度是1024。GraphConv 使用 DeepChem 的 ConvMolFeaturizer，每个原子75维输入特征，两层128维图卷积和256维稠密层。均值基线只使用训练集标签均值，用来判断模型是否学到有效信息。右侧为论文原始表示方式示意图，完整保留；我们没有测试其中的库仑矩阵、网格特征、对称函数和Weave模型。图源：https://arxiv.org/abs/1703.00564v3，p.17，Figure 5；作者署名 Wu et al.，CC BY-NC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实验使用随机80/10/10划分，种子123、456、789。不同随机划分可以让同一骨架出现在训练和测试中，所以测试更接近同分布预测。ESOL扩展使用DeepChem确定性骨架划分，三个种子只改变学习器随机性，不产生三个独立测试集。该扩展不是原论文理化性质图的原协议。所有划分都保存了源行索引，并独立检查结构和骨架交集。图源：https://arxiv.org/abs/1703.00564v3，p.13，Figure 3，Wu et al.，CC BY-NC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实验配置在运行前保存在experiment.json，后续所有运行校验同一配置哈希。原论文采用超参数优化，本次使用固定DeepChem预设，不做20轮高斯过程搜索。最后100 epoch固定作为GraphConv结果，不根据测试集挑选检查点。目标标准化仅拟合训练集，再逆变换预测到原始单位。使用DeepChem2.8.0、TensorFlow2.15.1和CPU，因此只能描述性能量级与排序，不能把差异全部归因于算法。来源：experiment.json；results*/provenance.json；https://arxiv.org/abs/1703.00564v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每个单元格都是三次独立随机划分测试RMSE的均值加样本标准差，标准差分母为n-1。不同数据集使用不同物理单位，不能跨行比较数值大小。每次训练都保留源行、SMILES、预测值和真实值，verify_results.py独立重算全部指标。均值基线只拟合训练标签。下页开始逐数据集对照论文原始结果。来源：verification/summary.csv；verification/run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OL主实验使用全量1128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eSolv主实验使用全量642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pophilicity主实验使用全量4200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额外诊断比较相同模型在随机划分和骨架划分下的误差。骨架划分保持测试骨架不出现在训练中，评估的外推难度更高，但单次确定性划分也改变了标签分布。三个种子不是三个独立骨架划分，不能据此推断泛化分布的置信区间。KRR在该骨架测试集的RMSE高于训练均值基线，是必须报告的负结果。此扩展不属于原论文Fig.12的随机理化性质比较。来源：verification/split-audits.json、results/esol/scaffold/*/split-audi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图中展示三种随机划分的验证集RMSE，每10个epoch记录一次，所有数值都已逆变换为原始单位。最终报告固定使用100 epoch，没有在最低验证误差点早停，也没有看测试集选择模型。验证曲线的波动以及种子差异提醒我们，单次训练不能代表稳定结论。这里没有把不同单位的三个数据集绘在同一纵轴上。来源：results/esol/random/{123,456,789}/gc/learning-curv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脚本没有导入训练脚本，也没有调用其指标函数，而是用Python标准库从每个预测CSV重算RMSE、MAE和R²，再匹配原始下载文件中的标签和SMILES。它检查源行完整覆盖且分区不交叉、标准化只拟合训练集、预测有限、GraphConv完成100 epoch。重复性测试比较首次预实验与主实验相同ESOL种子的完整预测文件。所有数值校验属于这批固定文件，不能替代独立外部数据验证。来源：verify_results.py、verification/runs.json、verification/summary.json。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本次使用jmiao24/Paper2Agent仓库中的Paper2Skill分支，不运行多代理Paper2MCP工作流。主代理预先审阅65页作者稿，Pi在GUI内真实执行prepare、extract、reuse-review、build和strict verify，把审查依据和限制带入新包。复杂表格采用原图，核心Table8逐行转录并核验。上游Windows路径检查把反斜杠与正斜杠清单比较，导致合法文件报Unexpected；临时副本将relative path改为as_posix，一行兼容补丁后严格校验通过。不是未经修改的全流程通过声明。来源：https://github.com/jmiao24/Paper2Agent commit8c2d059165ef8cdcb70dbea76655b9c2b55b38e6；gui-test/paper2agent/moleculenet-review/verification.json。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这里测试OpenDCAI/Paper2Any固定提交中的两个原生文本组件，outline_agent和outline_refine_agent，都使用simple mode、DeepSeek deepseek-flash真实API调用。没有启动自主子代理。输入是Paper2Agent转出的正文及独立核验结果，输出10页结构化大纲，再根据明确反馈修订。校验确认页数、必需字段、无虚构图片引用且修订不是原样返回。我们额外审查科学内容。进一步测试原生结构化幻灯片服务和导出路线：状态failed，处理10页，原生导出完成false。默认模板、API失败或输出截断都不能当作成功。未覆盖MinerU、图片生成、SAM、完整Web平台。本说明稿由独立制版脚本据真实结果制作，不冒充上游PPT导出。上游两处明文密钥日志已在测试副本脱敏。来源：https://github.com/OpenDCAI/Paper2Any commitb538531e25798d9b9d41afd5fa93c9222949b5a5；gui-test/paper2any/result.json和frontend/result.json。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截图来自本机Electron窗口，使用隔离测试目录，没有模拟API回包。确认准确模型后，通过技能快捷补全和Enter发送自然语言任务，Pi真实调用上游脚本并写入文件。首轮因测试配置采用旧环境变量语法出现401，修正为新版插值后GUI连接测试通过，同一会话重试。运行中左侧可见任务。右侧报告预览和文件切换以acceptance.json记录为准。出现的缺陷和未测功能不应被截图掩盖。来源：gui-test/acceptance.json；gui-test/evidence；对应Pi JSONL会话。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来自这批保存并核验的真实实验。GraphConv在ESOL、Lipophilicity上的随机测试均值优于本次RF和KRR。这与论文强调可学习表示的方向相符，但不证明所有场景图模型都优越。骨架划分负结果和协议差异都保留。两个工具分别帮助建立可检索证据包和生成说明大纲，数字仍依赖实际训练与独立审计。本次没有覆盖全部17个数据集、所有算法、原始环境或完整多模态平台，因此应称为有明确范围的现代环境复现与组件验收。研究性质结果，不用于临床或患者决策。来源：verification/summary.json；两个上游仓库与验收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fd1d9c24144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db4db557054182" /><Relationship Type="http://schemas.openxmlformats.org/officeDocument/2006/relationships/slideLayout" Target="/ppt/slideLayouts/slideLayout1.xml" Id="Rd4b6765253ab45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b6765253ab45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fd81ae2a5476b" /><Relationship Type="http://schemas.openxmlformats.org/officeDocument/2006/relationships/notesSlide" Target="/ppt/notesSlides/notesSlide1.xml" Id="R23fcd5b4829a4b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24c1a39194eab" /><Relationship Type="http://schemas.openxmlformats.org/officeDocument/2006/relationships/notesSlide" Target="/ppt/notesSlides/notesSlide2.xml" Id="R9360cce0251b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d17c9fc5a4291" /><Relationship Type="http://schemas.openxmlformats.org/officeDocument/2006/relationships/image" Target="/ppt/media/image.jpeg" Id="R4ba73f4edd1f4dd8" /><Relationship Type="http://schemas.openxmlformats.org/officeDocument/2006/relationships/notesSlide" Target="/ppt/notesSlides/notesSlide3.xml" Id="R9a282f15cceb44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944e73b0e4775" /><Relationship Type="http://schemas.openxmlformats.org/officeDocument/2006/relationships/image" Target="/ppt/media/image2.jpeg" Id="R1ee5b06437df41c2" /><Relationship Type="http://schemas.openxmlformats.org/officeDocument/2006/relationships/notesSlide" Target="/ppt/notesSlides/notesSlide4.xml" Id="R5b67b55621e445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5bf8ca9a44ef0" /><Relationship Type="http://schemas.openxmlformats.org/officeDocument/2006/relationships/notesSlide" Target="/ppt/notesSlides/notesSlide5.xml" Id="R40b882bbe48941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f264a8948404e" /><Relationship Type="http://schemas.openxmlformats.org/officeDocument/2006/relationships/notesSlide" Target="/ppt/notesSlides/notesSlide6.xml" Id="Rbde748e725304e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7e2e2f5da471b" /><Relationship Type="http://schemas.openxmlformats.org/officeDocument/2006/relationships/chart" Target="/ppt/slides/charts/chart1.xml" Id="R03258d0d43f047a0" /><Relationship Type="http://schemas.openxmlformats.org/officeDocument/2006/relationships/notesSlide" Target="/ppt/notesSlides/notesSlide7.xml" Id="Ra055acbff3ab45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35b00b2554756" /><Relationship Type="http://schemas.openxmlformats.org/officeDocument/2006/relationships/chart" Target="/ppt/slides/charts/chart2.xml" Id="R2a38b993a00a4c30" /><Relationship Type="http://schemas.openxmlformats.org/officeDocument/2006/relationships/notesSlide" Target="/ppt/notesSlides/notesSlide8.xml" Id="Ra5050878064140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f5267b19143b4" /><Relationship Type="http://schemas.openxmlformats.org/officeDocument/2006/relationships/chart" Target="/ppt/slides/charts/chart3.xml" Id="R8bd7915354f24a55" /><Relationship Type="http://schemas.openxmlformats.org/officeDocument/2006/relationships/notesSlide" Target="/ppt/notesSlides/notesSlide9.xml" Id="R39a49c45c1894f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7271d68c5462c" /><Relationship Type="http://schemas.openxmlformats.org/officeDocument/2006/relationships/chart" Target="/ppt/slides/charts/chart4.xml" Id="R5375d817d48a4365" /><Relationship Type="http://schemas.openxmlformats.org/officeDocument/2006/relationships/notesSlide" Target="/ppt/notesSlides/notesSlide10.xml" Id="R9f05551bc48447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801102bd44375" /><Relationship Type="http://schemas.openxmlformats.org/officeDocument/2006/relationships/chart" Target="/ppt/slides/charts/chart5.xml" Id="Rf612c722002d462a" /><Relationship Type="http://schemas.openxmlformats.org/officeDocument/2006/relationships/notesSlide" Target="/ppt/notesSlides/notesSlide11.xml" Id="R825a6b04857e45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766bb0eae4ed8" /><Relationship Type="http://schemas.openxmlformats.org/officeDocument/2006/relationships/notesSlide" Target="/ppt/notesSlides/notesSlide12.xml" Id="R9a2000a40e6b46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b2aabd6244e8b" /><Relationship Type="http://schemas.openxmlformats.org/officeDocument/2006/relationships/notesSlide" Target="/ppt/notesSlides/notesSlide13.xml" Id="R2339be72fd2240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805664785441f" /><Relationship Type="http://schemas.openxmlformats.org/officeDocument/2006/relationships/notesSlide" Target="/ppt/notesSlides/notesSlide14.xml" Id="R6b9177b8b5fc45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9568e5d724d4d" /><Relationship Type="http://schemas.openxmlformats.org/officeDocument/2006/relationships/image" Target="/ppt/media/image3.jpeg" Id="R14f4c9e5dbf149a6" /><Relationship Type="http://schemas.openxmlformats.org/officeDocument/2006/relationships/notesSlide" Target="/ppt/notesSlides/notesSlide15.xml" Id="R507a6b9004754c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a74ebc3784944" /><Relationship Type="http://schemas.openxmlformats.org/officeDocument/2006/relationships/notesSlide" Target="/ppt/notesSlides/notesSlide16.xml" Id="R6ac8b164bee0418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1.18956710186</c:v>
                </c:pt>
                <c:pt idx="1">
                  <c:v>1.48467915922</c:v>
                </c:pt>
                <c:pt idx="2">
                  <c:v>1.04629004051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1.07</c:v>
                </c:pt>
                <c:pt idx="1">
                  <c:v>1.53</c:v>
                </c:pt>
                <c:pt idx="2">
                  <c:v>0.97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(log10(mol/L))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2.06130160569</c:v>
                </c:pt>
                <c:pt idx="1">
                  <c:v>1.99888154466</c:v>
                </c:pt>
                <c:pt idx="2">
                  <c:v>2.15118478517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2.03</c:v>
                </c:pt>
                <c:pt idx="1">
                  <c:v>2.11</c:v>
                </c:pt>
                <c:pt idx="2">
                  <c:v>1.4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(kcal/mol)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0.838405701292</c:v>
                </c:pt>
                <c:pt idx="1">
                  <c:v>0.835383692489</c:v>
                </c:pt>
                <c:pt idx="2">
                  <c:v>0.704098892239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0.876</c:v>
                </c:pt>
                <c:pt idx="1">
                  <c:v>0.899</c:v>
                </c:pt>
                <c:pt idx="2">
                  <c:v>0.655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Random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Data'!$A$2:$A$5</c:f>
              <c:strCache>
                <c:ptCount val="4"/>
                <c:pt idx="0">
                  <c:v>均值基线</c:v>
                </c:pt>
                <c:pt idx="1">
                  <c:v>RF</c:v>
                </c:pt>
                <c:pt idx="2">
                  <c:v>KRR</c:v>
                </c:pt>
                <c:pt idx="3">
                  <c:v>GraphConv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2.13736758674</c:v>
                </c:pt>
                <c:pt idx="1">
                  <c:v>1.18956710186</c:v>
                </c:pt>
                <c:pt idx="2">
                  <c:v>1.48467915922</c:v>
                </c:pt>
                <c:pt idx="3">
                  <c:v>1.04629004051</c:v>
                </c:pt>
              </c:numCache>
            </c:numRef>
          </c:val>
        </c:ser>
        <c:ser>
          <c:idx val="1"/>
          <c:order val="1"/>
          <c:tx>
            <c:v>Scaffold</c:v>
          </c:tx>
          <c:spPr>
            <a:solidFill xmlns:a="http://schemas.openxmlformats.org/drawingml/2006/main">
              <a:srgbClr val="BF703E"/>
            </a:solidFill>
          </c:spPr>
          <c:cat>
            <c:strRef>
              <c:f>'Chart Data'!$C$2:$C$5</c:f>
              <c:strCache>
                <c:ptCount val="4"/>
                <c:pt idx="0">
                  <c:v>均值基线</c:v>
                </c:pt>
                <c:pt idx="1">
                  <c:v>RF</c:v>
                </c:pt>
                <c:pt idx="2">
                  <c:v>KRR</c:v>
                </c:pt>
                <c:pt idx="3">
                  <c:v>GraphConv</c:v>
                </c:pt>
              </c:strCache>
            </c:strRef>
          </c:cat>
          <c:val>
            <c:numRef>
              <c:f>'Chart Data'!$D$2:$D$5</c:f>
              <c:numCache>
                <c:formatCode>0.000</c:formatCode>
                <c:ptCount val="4"/>
                <c:pt idx="0">
                  <c:v>2.31497289567</c:v>
                </c:pt>
                <c:pt idx="1">
                  <c:v>1.69130503996</c:v>
                </c:pt>
                <c:pt idx="2">
                  <c:v>2.47233263232</c:v>
                </c:pt>
                <c:pt idx="3">
                  <c:v>1.36998991834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(log₁₀(mol/L))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seed 123</c:v>
          </c:tx>
          <c:spPr>
            <a:ln xmlns:a="http://schemas.openxmlformats.org/drawingml/2006/main" w="28575">
              <a:solidFill>
                <a:srgbClr val="12776F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12776F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Data'!$B$2:$B$11</c:f>
              <c:numCache>
                <c:formatCode>0.000</c:formatCode>
                <c:ptCount val="10"/>
                <c:pt idx="0">
                  <c:v>1.69019476332</c:v>
                </c:pt>
                <c:pt idx="1">
                  <c:v>1.46074320837</c:v>
                </c:pt>
                <c:pt idx="2">
                  <c:v>1.42869325724</c:v>
                </c:pt>
                <c:pt idx="3">
                  <c:v>1.25500990082</c:v>
                </c:pt>
                <c:pt idx="4">
                  <c:v>1.18509097932</c:v>
                </c:pt>
                <c:pt idx="5">
                  <c:v>1.11638010775</c:v>
                </c:pt>
                <c:pt idx="6">
                  <c:v>1.05879517915</c:v>
                </c:pt>
                <c:pt idx="7">
                  <c:v>1.07663865439</c:v>
                </c:pt>
                <c:pt idx="8">
                  <c:v>1.08468356529</c:v>
                </c:pt>
                <c:pt idx="9">
                  <c:v>1.004742501</c:v>
                </c:pt>
              </c:numCache>
            </c:numRef>
          </c:val>
        </c:ser>
        <c:ser>
          <c:idx val="1"/>
          <c:order val="1"/>
          <c:tx>
            <c:v>seed 456</c:v>
          </c:tx>
          <c:spPr>
            <a:ln xmlns:a="http://schemas.openxmlformats.org/drawingml/2006/main" w="28575">
              <a:solidFill>
                <a:srgbClr val="817BAA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817BAA"/>
              </a:solidFill>
            </c:spPr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Data'!$D$2:$D$11</c:f>
              <c:numCache>
                <c:formatCode>0.000</c:formatCode>
                <c:ptCount val="10"/>
                <c:pt idx="0">
                  <c:v>1.65983383969</c:v>
                </c:pt>
                <c:pt idx="1">
                  <c:v>1.5088467901</c:v>
                </c:pt>
                <c:pt idx="2">
                  <c:v>1.43151131992</c:v>
                </c:pt>
                <c:pt idx="3">
                  <c:v>1.34543834786</c:v>
                </c:pt>
                <c:pt idx="4">
                  <c:v>1.2442403053</c:v>
                </c:pt>
                <c:pt idx="5">
                  <c:v>1.19449659073</c:v>
                </c:pt>
                <c:pt idx="6">
                  <c:v>1.13855132883</c:v>
                </c:pt>
                <c:pt idx="7">
                  <c:v>1.16910439013</c:v>
                </c:pt>
                <c:pt idx="8">
                  <c:v>1.1595606466</c:v>
                </c:pt>
                <c:pt idx="9">
                  <c:v>1.11689581157</c:v>
                </c:pt>
              </c:numCache>
            </c:numRef>
          </c:val>
        </c:ser>
        <c:ser>
          <c:idx val="2"/>
          <c:order val="2"/>
          <c:tx>
            <c:v>seed 789</c:v>
          </c:tx>
          <c:spPr>
            <a:ln xmlns:a="http://schemas.openxmlformats.org/drawingml/2006/main" w="28575">
              <a:solidFill>
                <a:srgbClr val="BF703E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BF703E"/>
              </a:solidFill>
            </c:spPr>
          </c:marker>
          <c:cat>
            <c:numRef>
              <c:f>'Chart Data'!$E$2:$E$11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Data'!$F$2:$F$11</c:f>
              <c:numCache>
                <c:formatCode>0.000</c:formatCode>
                <c:ptCount val="10"/>
                <c:pt idx="0">
                  <c:v>1.65118654336</c:v>
                </c:pt>
                <c:pt idx="1">
                  <c:v>1.50554723492</c:v>
                </c:pt>
                <c:pt idx="2">
                  <c:v>1.46492814422</c:v>
                </c:pt>
                <c:pt idx="3">
                  <c:v>1.41689392513</c:v>
                </c:pt>
                <c:pt idx="4">
                  <c:v>1.28933400891</c:v>
                </c:pt>
                <c:pt idx="5">
                  <c:v>1.1543539421</c:v>
                </c:pt>
                <c:pt idx="6">
                  <c:v>1.16240684411</c:v>
                </c:pt>
                <c:pt idx="7">
                  <c:v>1.11540615762</c:v>
                </c:pt>
                <c:pt idx="8">
                  <c:v>1.08453452353</c:v>
                </c:pt>
                <c:pt idx="9">
                  <c:v>1.00143075016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latin typeface="Noto Sans SC"/>
                    <a:ea typeface="Noto Sans SC"/>
                    <a:cs typeface="Noto Sans SC"/>
                  </a:rPr>
                  <a:t>训练 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latin typeface="Noto Sans SC"/>
                    <a:ea typeface="Noto Sans SC"/>
                    <a:cs typeface="Noto Sans SC"/>
                  </a:rPr>
                  <a:t>验证 RMSE (log₁₀(mol/L))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6E900-DD8D-4E4A-B461-83FDDFC8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MoleculeNet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64F5E-F94C-4414-9B20-8AA89734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670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分子性质预测复现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81137-C4E8-4E47-A3C0-B99C5593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6D6C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B6D6CF"/>
                </a:solidFill>
                <a:latin typeface="Noto Sans SC"/>
                <a:ea typeface="Noto Sans SC"/>
                <a:cs typeface="Noto Sans SC"/>
              </a:rPr>
              <a:t>ESOL、FreeSolv 与 Lipophilicity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26F27-DAC3-40EC-A1B1-DE2904FE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rPr>
              <a:t>Pi GUI 实测  /  DeepSeek V4.1 Flash</a:t>
            </a:r>
          </a:p>
          <a:p xmlns:a="http://schemas.openxmlformats.org/drawingml/2006/main">
            <a:pPr>
              <a:def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rPr>
              <a:t>2026 年 9 月 18 日</a:t>
            </a:r>
          </a:p>
        </p:txBody>
      </p:sp>
    </p:spTree>
    <p:extLst>
      <p:ext uri="{BB962C8B-B14F-4D97-AF65-F5344CB8AC3E}">
        <p14:creationId xmlns:p14="http://schemas.microsoft.com/office/powerpoint/2010/main" val="2085927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21823-3506-4E46-B51E-3C00573B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研究对象与复现范围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4EDDC-8C41-4E8B-BF48-0DC4A87E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论文：Wu 等，Chemical Science 9, 513–530 (2018)；JCR Q1，非中科院分区声明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CE410-4EE8-4855-BBA5-8D792122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1714500"/>
                <a:gridCol w="4000500"/>
                <a:gridCol w="306705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数据集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样本数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预测目标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误差单位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1,128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水溶解度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log₁₀(mol/L)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FreeSolv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642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水合自由能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kcal/mol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Lipophilicity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4,200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脂溶性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logD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22865-269E-432F-BEDE-96130A9D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3 个数据集，4 个模型，3 个随机种子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857D9-BB44-4371-91D2-9764E02D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另加 ESOL 骨架划分诊断，共 48 次真实训练与评估</a:t>
            </a:r>
          </a:p>
        </p:txBody>
      </p:sp>
    </p:spTree>
    <p:extLst>
      <p:ext uri="{BB962C8B-B14F-4D97-AF65-F5344CB8AC3E}">
        <p14:creationId xmlns:p14="http://schemas.microsoft.com/office/powerpoint/2010/main" val="2075593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6CBD6-8F12-47B7-B899-F6718537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固定指纹与可学习图表示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C0E42-A087-4865-9B26-6C7121AC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图：Wu et al.，MoleculeNet 作者稿 Fig.5，CC BY-NC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C121D-D87B-46F3-BE02-8BF68834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6B392-242D-4A5A-B423-5214DD01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RF / KRR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21086-D6DF-48AA-81E7-FEDA994B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52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ECFP4：半径 2，1024 bits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RF：500 棵树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KRR：RBF 核，固定超参数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64B65-FDBD-4B8C-A752-6A8D9F35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GraphConv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DC888-636E-4D55-A809-739F9483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524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75 维原子特征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图卷积 [128, 128]，稠密层 256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训练 100 epochs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73f4edd1f4dd8"/>
          <a:stretch xmlns:a="http://schemas.openxmlformats.org/drawingml/2006/main"/>
        </p:blipFill>
        <p:spPr>
          <a:xfrm xmlns:a="http://schemas.openxmlformats.org/drawingml/2006/main">
            <a:off x="7443834" y="1314450"/>
            <a:ext cx="3200307" cy="4829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39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A184A-5099-49C4-B06F-7FD4997F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随机划分与骨架划分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192DD-8076-482B-A3B2-F365EACE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图：Wu et al.，MoleculeNet 作者稿 Fig.3，CC BY-NC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5E84F-B3DE-4864-9A5C-4182475A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5b06437df41c2"/>
          <a:stretch xmlns:a="http://schemas.openxmlformats.org/drawingml/2006/main"/>
        </p:blipFill>
        <p:spPr>
          <a:xfrm xmlns:a="http://schemas.openxmlformats.org/drawingml/2006/main">
            <a:off x="647700" y="1362934"/>
            <a:ext cx="4114800" cy="478935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60E5-2DC0-47F5-B87B-B8D23448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002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主实验：random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B5413-3B3F-4F5B-8A41-6B9A755B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38375"/>
            <a:ext cx="581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训练 80%  /  验证 10%  /  测试 10%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三个种子改变样本分配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允许相似骨架跨越分区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2BAAF-DAC9-401F-9351-90BBE848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433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扩展实验：scaffold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9DC7B-E942-46F3-AB24-5F0E955C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81525"/>
            <a:ext cx="581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仅 ESOL，骨架不跨分区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三个种子的分区相同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用于检查分布外预测的敏感性</a:t>
            </a:r>
          </a:p>
        </p:txBody>
      </p:sp>
    </p:spTree>
    <p:extLst>
      <p:ext uri="{BB962C8B-B14F-4D97-AF65-F5344CB8AC3E}">
        <p14:creationId xmlns:p14="http://schemas.microsoft.com/office/powerpoint/2010/main" val="517773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C10D0-EE75-49F4-AD1D-7C7B4A1B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固定协议与原论文差异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0EB3B-3F66-4F0D-A14A-D8AEF04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协议：experiment.json；环境：DeepChem 2.8.0 / TensorFlow 2.15.1 / Windows CPU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00699-1C98-456A-AC31-A3A53E92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457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8401050"/>
              </a:tblGrid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本次设置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随机种子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123、456、789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GraphConv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[128,128]；dense 256；batch 128；lr 0.0005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训练终点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 100 epochs，不按测试集挑选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KRR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RBF；alpha 0.001；gamma 1/1024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标签处理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仅训练集拟合标准化，预测后逆变换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未复刻项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原始划分索引、旧环境、超参数搜索、全部模型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09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B6105-CEB9-4D99-ABC3-131A400D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随机划分结果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4632C-44BB-4885-8A02-524B964D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B2C5A-2684-4B0D-B853-C183B0CA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14600"/>
                <a:gridCol w="2114550"/>
                <a:gridCol w="2114550"/>
                <a:gridCol w="2114550"/>
                <a:gridCol w="2114550"/>
              </a:tblGrid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数据集 / 单位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均值基线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RF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KRR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GraphConv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log10(mol/L)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2.137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1.190 ± 0.159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1.485 ± 0.119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1.046 ± 0.106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FreeSolv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kcal/mol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3.963 ± 0.473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2.061 ± 0.664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1.999 ± 0.410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2.151 ± 0.232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Lipophilicity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logD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1.169 ± 0.014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0.838 ± 0.011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0.835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0.704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E06A2-216F-4565-B3F9-DDFB44A1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均值 ± 样本标准差，n = 3；RMSE 越低越好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E7262-8E54-4D7D-9747-F78230E5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各数据集单位不同，数值大小不能跨行直接比较</a:t>
            </a:r>
          </a:p>
        </p:txBody>
      </p:sp>
    </p:spTree>
    <p:extLst>
      <p:ext uri="{BB962C8B-B14F-4D97-AF65-F5344CB8AC3E}">
        <p14:creationId xmlns:p14="http://schemas.microsoft.com/office/powerpoint/2010/main" val="4589171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82AF3-64E3-47E4-8AFE-8378522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46890-7F62-424F-A54A-30E22C2F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7B6F3-3313-460E-9482-935D0262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258d0d43f047a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F89B4-2FB2-4554-AABC-0EDB7049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0.159，KRR 0.119，GraphConv 0.106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87CF2-8976-44BD-B59B-1D66197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RMSE：2.137 ± 0.016</a:t>
            </a:r>
          </a:p>
        </p:txBody>
      </p:sp>
    </p:spTree>
    <p:extLst>
      <p:ext uri="{BB962C8B-B14F-4D97-AF65-F5344CB8AC3E}">
        <p14:creationId xmlns:p14="http://schemas.microsoft.com/office/powerpoint/2010/main" val="18849640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82076-8361-4A41-AC8A-7ED1992E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FreeSolv：本次结果与论文参考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05A7A-696E-4F96-8FA5-0417F122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9CD88-9D53-4405-9410-041680A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38b993a00a4c3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93F2A-77A3-482F-8CDF-95F59E23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0.664，KRR 0.410，GraphConv 0.232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189C2-C57C-4A32-822B-133122E4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RMSE：3.963 ± 0.473</a:t>
            </a:r>
          </a:p>
        </p:txBody>
      </p:sp>
    </p:spTree>
    <p:extLst>
      <p:ext uri="{BB962C8B-B14F-4D97-AF65-F5344CB8AC3E}">
        <p14:creationId xmlns:p14="http://schemas.microsoft.com/office/powerpoint/2010/main" val="2859796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0A7C9-5A7D-4732-B43C-93267CE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Lipophilicity：本次结果与论文参考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139F9-F46D-461F-A6E6-C03DE6EF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8F8C8-A260-44A7-9C35-2E96C78F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d7915354f24a5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6B8A5-0F9C-4D62-BF61-6298ED96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0.011，KRR 0.016，GraphConv 0.016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8CDD9-BE98-4EAB-BDF2-C88108C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RMSE：1.169 ± 0.014</a:t>
            </a:r>
          </a:p>
        </p:txBody>
      </p:sp>
    </p:spTree>
    <p:extLst>
      <p:ext uri="{BB962C8B-B14F-4D97-AF65-F5344CB8AC3E}">
        <p14:creationId xmlns:p14="http://schemas.microsoft.com/office/powerpoint/2010/main" val="16219248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75594-3167-416E-886A-360E4761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 骨架划分提高了预测难度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E57DE-2D87-43CB-B705-C6F2BB64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额外诊断：同一骨架分区，三个学习器种子；不能当作三折交叉验证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CE675-7890-472F-B412-977BE2B7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8394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75d817d48a436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2314F-C4A5-4BF8-9235-9B4E712B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KRR 的骨架测试误差高于均值基线，不能只报告随机划分的成绩</a:t>
            </a:r>
          </a:p>
        </p:txBody>
      </p:sp>
    </p:spTree>
    <p:extLst>
      <p:ext uri="{BB962C8B-B14F-4D97-AF65-F5344CB8AC3E}">
        <p14:creationId xmlns:p14="http://schemas.microsoft.com/office/powerpoint/2010/main" val="10280201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58A36-BB08-435D-8E42-0F10DAE0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 图卷积的验证误差轨迹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BD91C-463C-4F07-8B17-1D769635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3E675-2254-4570-AB68-D91391F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19125" y="1447800"/>
          <a:ext xmlns:a="http://schemas.openxmlformats.org/drawingml/2006/main" cx="10829925" cy="4133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12c722002d462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AEE19-6FA7-4302-8B5A-FBB8FD18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统一报告第 100 个 epoch，不使用测试集选择检查点</a:t>
            </a:r>
          </a:p>
        </p:txBody>
      </p:sp>
    </p:spTree>
    <p:extLst>
      <p:ext uri="{BB962C8B-B14F-4D97-AF65-F5344CB8AC3E}">
        <p14:creationId xmlns:p14="http://schemas.microsoft.com/office/powerpoint/2010/main" val="679886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1D328-B93C-4519-A3A9-31723A86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结果可追溯到每个分子的预测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103E6-CC43-4BA4-A081-DA6A5C7D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76FE9-44E9-4B5E-833F-305E3A9B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4010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7924800"/>
              </a:tblGrid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本次检查结果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完整实验矩阵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48 / 48 个运行，全部存在真实预测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数据与分区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源文件 SHA-256、逐行标签、分区覆盖与交集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指标计算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独立重算 RMSE / MAE / R²，与保存值一致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训练过程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仅训练集标准化；GC 全部完成 100 epochs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 seed 123 重跑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3模型完全一致；RF 最大绝对差 1.78×10⁻¹⁵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520F8-93D7-44FF-BE00-6FEC9CD2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原始失败日志保留，缺失或异常运行直接判为失败</a:t>
            </a:r>
          </a:p>
        </p:txBody>
      </p:sp>
    </p:spTree>
    <p:extLst>
      <p:ext uri="{BB962C8B-B14F-4D97-AF65-F5344CB8AC3E}">
        <p14:creationId xmlns:p14="http://schemas.microsoft.com/office/powerpoint/2010/main" val="15721760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377C8-0306-4479-A09D-51F10ED2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Paper2Agent：论文阅读包实测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35557-ABE9-45AA-B390-103F1F1E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Paper2Agent：固定提交 8c2d059；使用 Paper2Skill，未测试完整 Paper2MCP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4BD87-D466-44AB-9B8E-51BE53D8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A50A1-BE79-4E61-9A2D-D393D4B6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65 页作者稿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292B8-D768-48BA-B0DE-BAD82EBD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57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30 个图像资产，1 个核验后的结果 CSV</a:t>
            </a:r>
          </a:p>
          <a:p xmlns:a="http://schemas.openxmlformats.org/drawingml/2006/main">
            <a:pPr>
              <a:def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严格验证通过，状态为 reviewed_with_limitations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952875"/>
          <a:ext xmlns:a="http://schemas.openxmlformats.org/drawingml/2006/main" cx="10858500" cy="2038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09950"/>
                <a:gridCol w="7448550"/>
              </a:tblGrid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保留的限制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处理方式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复杂表格与公式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保留原图，不伪造完整结构化数据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论文与作者稿编号不同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作者稿 Fig.13 对应期刊 Fig.12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Windows 路径检查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一行路径规范化补丁，明确记录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5431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CCBD4-1977-4AA2-AAD5-2F88157C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Paper2Any：大纲与结构化路线实测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07322-EB12-4E77-BD57-5135B991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Paper2Any：固定提交 b538531；真实上游调用，未覆盖多模态Web平台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EB61A-BDAB-46AC-9787-51BF8492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91AA7-95CD-40B0-AC6B-05E968D8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10 页大纲，2 次原生流程调用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E41B2-3C10-4135-A451-B28DFE5B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生成 29.2 秒，修订 14.7 秒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模型：DeepSeek V4.1 Flash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20ABE-FE82-4F0C-9B44-DBE7C7D3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实际输出章节示例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7C9A3-8615-435F-86A6-11FE490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2. 研究背景与动机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3. 总体设计与核心贡献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4. 数据集与任务层次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898A5-9005-4FCE-BAF5-701DE153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结构化制片失败，未进入原生 PPT 导出步骤</a:t>
            </a:r>
          </a:p>
        </p:txBody>
      </p:sp>
    </p:spTree>
    <p:extLst>
      <p:ext uri="{BB962C8B-B14F-4D97-AF65-F5344CB8AC3E}">
        <p14:creationId xmlns:p14="http://schemas.microsoft.com/office/powerpoint/2010/main" val="2530673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4794E-6FCF-4255-AB6B-AAC5E1F4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Pi GUI 的真实执行与文档预览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BBADF-8B2A-4E60-B540-384DED3F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本机真实 Pi GUI 截图；验收范围和异常见 gui-test/acceptance.json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38728-B449-4046-A32E-385D6610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4c9e5dbf149a6"/>
          <a:stretch xmlns:a="http://schemas.openxmlformats.org/drawingml/2006/main"/>
        </p:blipFill>
        <p:spPr>
          <a:xfrm xmlns:a="http://schemas.openxmlformats.org/drawingml/2006/main">
            <a:off x="915637" y="1343025"/>
            <a:ext cx="7046026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437E2-43C9-45BB-B8B5-35F17188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525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实际验证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47C14-7182-482A-AAEB-48D47885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28384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准确模型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技能补全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Enter 发送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运行中任务可见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工具回执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文档预览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129E3-F1BC-4097-BAFC-6EC8D85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长会话状态刷新触发 IPC 递归深度错误，稳定性未通过</a:t>
            </a:r>
          </a:p>
        </p:txBody>
      </p:sp>
    </p:spTree>
    <p:extLst>
      <p:ext uri="{BB962C8B-B14F-4D97-AF65-F5344CB8AC3E}">
        <p14:creationId xmlns:p14="http://schemas.microsoft.com/office/powerpoint/2010/main" val="13371016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00A91-ACBB-4C88-89B2-F5F4EA63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结论与适用边界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6A809-9F1E-4052-82BE-81F9B20E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全部结果、源码、协议与限制说明随交付目录保存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392C3-8923-496D-AFEF-21CF2ED1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AD7FC-BA17-49DF-973F-4B90E3B1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实验结论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B9AF2-075C-4FA7-8679-C4EF080F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668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GraphConv 在 ESOL、Lipophilicity 的随机划分中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取得低于本次 RF、KRR 的平均 RMSE。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D9EF2-958D-4AF9-A9FF-A5B678B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可复核范围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77951-2C63-4761-9068-31BBE3F4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668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全量数据、固定协议、逐分子预测和独立指标审计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保留骨架划分负结果与工具运行中的真实失败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30CE8-3FB5-4E7F-A16A-9EC74F2F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局部现代环境复现，不构成临床有效性证据</a:t>
            </a:r>
          </a:p>
        </p:txBody>
      </p:sp>
    </p:spTree>
    <p:extLst>
      <p:ext uri="{BB962C8B-B14F-4D97-AF65-F5344CB8AC3E}">
        <p14:creationId xmlns:p14="http://schemas.microsoft.com/office/powerpoint/2010/main" val="889248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2026-09-18T14:51:49.4790000Z</dcterms:created>
  <dcterms:modified xsi:type="dcterms:W3CDTF">2026-09-18T14:51:49.4800000Z</dcterms:modified>
</coreProperties>
</file>